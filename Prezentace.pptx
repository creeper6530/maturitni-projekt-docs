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2_6449AC5C.xml" ContentType="application/vnd.ms-powerpoint.comments+xml"/>
  <Override PartName="/ppt/notesSlides/notesSlide6.xml" ContentType="application/vnd.openxmlformats-officedocument.presentationml.notesSlide+xml"/>
  <Override PartName="/ppt/comments/modernComment_10F_1D3B1A8A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10_236875D5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57" r:id="rId4"/>
    <p:sldId id="261" r:id="rId5"/>
    <p:sldId id="263" r:id="rId6"/>
    <p:sldId id="258" r:id="rId7"/>
    <p:sldId id="271" r:id="rId8"/>
    <p:sldId id="270" r:id="rId9"/>
    <p:sldId id="262" r:id="rId10"/>
    <p:sldId id="264" r:id="rId11"/>
    <p:sldId id="272" r:id="rId12"/>
    <p:sldId id="265" r:id="rId13"/>
    <p:sldId id="266" r:id="rId14"/>
    <p:sldId id="273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27075E-E1E5-2701-A4E4-E7D417A591B4}" name="Ondřej Běhal" initials="OB" userId="S::ondrej.behal@ms.krestanskegymnazium.cz::bb15c10f-1ace-45d6-9a30-85afa41deab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76259" autoAdjust="0"/>
  </p:normalViewPr>
  <p:slideViewPr>
    <p:cSldViewPr snapToGrid="0">
      <p:cViewPr varScale="1">
        <p:scale>
          <a:sx n="84" d="100"/>
          <a:sy n="84" d="100"/>
        </p:scale>
        <p:origin x="1596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omments/modernComment_10F_1D3B1A8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E681B9-C046-4031-A410-095919527E16}" authorId="{6027075E-E1E5-2701-A4E4-E7D417A591B4}" created="2026-04-03T09:12:43.94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490412682" sldId="271"/>
      <ac:spMk id="2" creationId="{607940D3-E158-1255-6253-DDC86DF077C7}"/>
      <ac:txMk cp="5" len="7">
        <ac:context len="13" hash="2811815585"/>
      </ac:txMk>
    </ac:txMkLst>
    <p188:pos x="4181302" y="1273985"/>
    <p188:txBody>
      <a:bodyPr/>
      <a:lstStyle/>
      <a:p>
        <a:r>
          <a:rPr lang="cs-CZ"/>
          <a:t>Mezinárodní fonetická abeceda, abychom potěšili předsedu češtináře...</a:t>
        </a:r>
      </a:p>
    </p188:txBody>
  </p188:cm>
</p188:cmLst>
</file>

<file path=ppt/comments/modernComment_102_6449AC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F0D791-3940-4B34-8101-6CFD4C392C6D}" authorId="{6027075E-E1E5-2701-A4E4-E7D417A591B4}" created="2026-03-29T14:51:12.7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347" len="48">
        <ac:context len="396" hash="2375909780"/>
      </ac:txMk>
    </ac:txMkLst>
    <p188:pos x="5847608" y="3933907"/>
    <p188:txBody>
      <a:bodyPr/>
      <a:lstStyle/>
      <a:p>
        <a:r>
          <a:rPr lang="cs-CZ"/>
          <a:t>Možná vynechat</a:t>
        </a:r>
      </a:p>
    </p188:txBody>
  </p188:cm>
  <p188:cm id="{BF9AEFD2-8152-42FF-8785-86DD9765A672}" authorId="{6027075E-E1E5-2701-A4E4-E7D417A591B4}" created="2026-03-29T15:20:32.81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15" len="9">
        <ac:context len="396" hash="2375909780"/>
      </ac:txMk>
    </ac:txMkLst>
    <p188:pos x="4196938" y="323809"/>
    <p188:txBody>
      <a:bodyPr/>
      <a:lstStyle/>
      <a:p>
        <a:r>
          <a:rPr lang="cs-CZ"/>
          <a:t>Technicky vzato víceúčelový, ale když prodáváš auto, nechlubíš se tím, že tě umí odvézt z bodu A do bodu B...</a:t>
        </a:r>
      </a:p>
    </p188:txBody>
  </p188:cm>
</p188:cmLst>
</file>

<file path=ppt/comments/modernComment_110_236875D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E62FC9-A357-4372-91FC-D2BFCF308EE1}" authorId="{6027075E-E1E5-2701-A4E4-E7D417A591B4}" created="2026-04-03T17:41:46.06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594048469" sldId="272"/>
      <ac:spMk id="6" creationId="{25717209-8749-396C-9CE4-92D63F73388D}"/>
      <ac:txMk cp="105" len="94">
        <ac:context len="284" hash="3670548495"/>
      </ac:txMk>
    </ac:txMkLst>
    <p188:pos x="8341426" y="1736972"/>
    <p188:txBody>
      <a:bodyPr/>
      <a:lstStyle/>
      <a:p>
        <a:r>
          <a:rPr lang="cs-CZ"/>
          <a:t>Možná vyloučit pro délku?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F5405-DF1B-4076-864B-7962BED0FCA9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74CA6-4D7F-431B-9614-EDAF6E1099E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541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Úvod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54276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Jak Krteček k projektu přišel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15554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Vysvětlit jednoduše RPN, jaké jsou rozdíly proti běžné infixové notaci</a:t>
            </a:r>
          </a:p>
          <a:p>
            <a:r>
              <a:rPr lang="cs-CZ" dirty="0"/>
              <a:t>Ukázat příklady matematických výrazů, ukázat je přímo na kalkulačce, pokud je fyzicky přítomna</a:t>
            </a:r>
          </a:p>
          <a:p>
            <a:r>
              <a:rPr lang="cs-CZ" dirty="0"/>
              <a:t>Lze povídat i o historickém kontextu</a:t>
            </a:r>
          </a:p>
          <a:p>
            <a:endParaRPr lang="cs-CZ" dirty="0"/>
          </a:p>
          <a:p>
            <a:r>
              <a:rPr lang="cs-CZ" dirty="0"/>
              <a:t>Zdroj obrázku: https://calculator-museum.nl/?hp-12c25thanniversary ; https://calculator-museum.nl/calculators/pictures/hp-12c25thanniversary.png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6636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Rust.</a:t>
            </a:r>
          </a:p>
          <a:p>
            <a:endParaRPr lang="cs-CZ" dirty="0"/>
          </a:p>
          <a:p>
            <a:r>
              <a:rPr lang="cs-CZ" dirty="0"/>
              <a:t>Rust je moderní (2015) systémový programovací jazyk. Sám se označuje jako „bleskurychlý“, s „neohroženou souběžností“, slibuje „dokonalou paměťovou bezpečnost“ a další vznešené vlastnosti.</a:t>
            </a:r>
          </a:p>
          <a:p>
            <a:r>
              <a:rPr lang="cs-CZ" dirty="0"/>
              <a:t>Pochopitelně to </a:t>
            </a:r>
          </a:p>
          <a:p>
            <a:r>
              <a:rPr lang="cs-CZ" dirty="0"/>
              <a:t>&lt;evangelizující fanoušci&gt;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07162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 je moderní systémový programovací jazyk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 – sice na absolutní škále vysokoúrovňový, ale vzhledem k jiným jazykům stále blíže k hardwaru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Výkonný – politika abstrakce bez dopadu na výkon ("manuálně bys to nenapsal lépe")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Díky odstupu času byl schopen vidět, co v jiných jazycích nefunguje a co udělat jinak / lépe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Do samého jádra jazyka je integrován statický analyzátor nazývaný „</a:t>
            </a:r>
            <a:r>
              <a:rPr lang="cs-CZ" dirty="0" err="1"/>
              <a:t>borrow</a:t>
            </a:r>
            <a:r>
              <a:rPr lang="cs-CZ" dirty="0"/>
              <a:t> checker“, který implementuje koncept vlastnictví a půjčování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Vlastnictví a půjčování popsán dále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1" dirty="0"/>
              <a:t>Již během kompilace</a:t>
            </a:r>
            <a:r>
              <a:rPr lang="cs-CZ" i="0" dirty="0"/>
              <a:t> zajišťuje platnost ukazatelů a bezpečné přístupy k paměti bez dopadů na výkon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    Oproti tomu „sběr odpadu“ (</a:t>
            </a:r>
            <a:r>
              <a:rPr lang="cs-CZ" i="0" dirty="0" err="1"/>
              <a:t>GC</a:t>
            </a:r>
            <a:r>
              <a:rPr lang="cs-CZ" i="0" dirty="0"/>
              <a:t>) je nedeterministický a obecně škodí výkonu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„Pokud se to zkompiluje, tak to poběží.“ / „Pokládá právě tolik (pomyslných) dopravních kuželů / bariér, aby člověku zabránil brát zkratky.“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i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Jednoduchá, jednotná a explicitní práce s chybami, kdy chyby jsou reprezentovány jednoduše jako hodnoty pomocí algebraických datových typů (</a:t>
            </a:r>
            <a:r>
              <a:rPr lang="cs-CZ" dirty="0" err="1"/>
              <a:t>enumů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Enum</a:t>
            </a:r>
            <a:r>
              <a:rPr lang="cs-CZ" dirty="0"/>
              <a:t> je disjunktní sjednocení – popsáno dále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Žádné zapomenuté kontroly nulového ukazatele; typový systém jasně stanovuje, zda je chyba možná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Nemáme 20 různých vzájemně nekompatibilních způsobů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Generické programování =&gt; jeden kód dokáže pracovat s různými datovými typy, omezuje zbytečnou duplikaci kódu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Systém </a:t>
            </a:r>
            <a:r>
              <a:rPr lang="cs-CZ" dirty="0" err="1"/>
              <a:t>traitů</a:t>
            </a:r>
            <a:r>
              <a:rPr lang="cs-CZ" dirty="0"/>
              <a:t> popsán dále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Jednotný a kvalitní systém pro kompilaci </a:t>
            </a:r>
            <a:r>
              <a:rPr lang="cs-CZ" dirty="0" err="1"/>
              <a:t>Cargo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Který zároveň figuruje jako správce balíčků (program spravující knihovny, na kterých náš projekt závisí, jejich verze, a který je dokáže automaticky stáhnout z centrálního úložiště)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Velmi dobře čitelné chybové hlášky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Od roku 2016 je každoročně „nejmilovanějším“ jazykem podle průzkumů společnosti </a:t>
            </a:r>
            <a:r>
              <a:rPr lang="cs-CZ" dirty="0" err="1"/>
              <a:t>Stack</a:t>
            </a:r>
            <a:r>
              <a:rPr lang="cs-CZ" dirty="0"/>
              <a:t> </a:t>
            </a:r>
            <a:r>
              <a:rPr lang="cs-CZ" dirty="0" err="1"/>
              <a:t>Overflow</a:t>
            </a:r>
            <a:r>
              <a:rPr lang="cs-CZ" dirty="0"/>
              <a:t>, tzn. největší procento respondentů, kteří ho v nedávné minulosti používali, by ho rádi používali nadále.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r>
              <a:rPr lang="cs-CZ" dirty="0"/>
              <a:t>Zdroj obrázku: https://rust-lang.org/static/images/rust-logo-blk.svg / https://rustfoundation.org/policy/rust-trademark-policy/#do-not-require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75636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err="1"/>
              <a:t>Enum</a:t>
            </a:r>
            <a:r>
              <a:rPr lang="cs-CZ" dirty="0"/>
              <a:t>, česky také „výčtový typ“, je datový typ, ve kterém programátor specifikuje konečnou množinu hodnot, kterých smí nabývat.</a:t>
            </a:r>
          </a:p>
          <a:p>
            <a:r>
              <a:rPr lang="cs-CZ" dirty="0"/>
              <a:t>Každé hodnotě je běžně přiřazen textový identifikátor (a interní číselná reprezentace), který lze dále používat v kódu.</a:t>
            </a:r>
          </a:p>
          <a:p>
            <a:r>
              <a:rPr lang="cs-CZ" dirty="0"/>
              <a:t>Na vrchním obrázku je příklad definice takovéhoto výčtu v jazyce C.</a:t>
            </a:r>
          </a:p>
          <a:p>
            <a:endParaRPr lang="cs-CZ" dirty="0"/>
          </a:p>
          <a:p>
            <a:r>
              <a:rPr lang="cs-CZ" dirty="0"/>
              <a:t>V jazyce Rust ale dokáží </a:t>
            </a:r>
            <a:r>
              <a:rPr lang="cs-CZ" dirty="0" err="1"/>
              <a:t>enumy</a:t>
            </a:r>
            <a:r>
              <a:rPr lang="cs-CZ" dirty="0"/>
              <a:t> mnohem více: jedná se o disjunktní sjednocení. To znamená, že je tvořen několika množinami hodnot,</a:t>
            </a:r>
          </a:p>
          <a:p>
            <a:r>
              <a:rPr lang="cs-CZ" dirty="0"/>
              <a:t>a dokáže nabývat jakékoli z nich, ale rozlišuje stejné hodnoty z jiných množin.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 příkladu zde je vidět, že když tyto dvě množiny hodnot obsahují hodnotu 2, tak běžné sjednocení by ji nerozlišovalo,</a:t>
            </a:r>
            <a:br>
              <a:rPr lang="cs-CZ" dirty="0"/>
            </a:br>
            <a:r>
              <a:rPr lang="cs-CZ" dirty="0"/>
              <a:t>ale disjunktní sjednocení rozlišuje mezi 2 z množiny A </a:t>
            </a:r>
            <a:r>
              <a:rPr lang="cs-CZ" dirty="0" err="1"/>
              <a:t>a</a:t>
            </a:r>
            <a:r>
              <a:rPr lang="cs-CZ" dirty="0"/>
              <a:t> 2 z množiny B.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praxi je to využíváno tak, že každá varianta </a:t>
            </a:r>
            <a:r>
              <a:rPr lang="cs-CZ" dirty="0" err="1"/>
              <a:t>enumu</a:t>
            </a:r>
            <a:r>
              <a:rPr lang="cs-CZ" dirty="0"/>
              <a:t> se skládá nejen z identifikátoru,</a:t>
            </a:r>
            <a:br>
              <a:rPr lang="cs-CZ" dirty="0"/>
            </a:br>
            <a:r>
              <a:rPr lang="cs-CZ" dirty="0"/>
              <a:t>ale volitelně i z jednoho nebo více datového typů, které pak daná varianta bude obsahovat.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 spodním obrázku je příklad definice takového </a:t>
            </a:r>
            <a:r>
              <a:rPr lang="cs-CZ" dirty="0" err="1"/>
              <a:t>enumu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Rust hojně využívá </a:t>
            </a:r>
            <a:r>
              <a:rPr lang="cs-CZ" dirty="0" err="1"/>
              <a:t>enumy</a:t>
            </a:r>
            <a:r>
              <a:rPr lang="cs-CZ" dirty="0"/>
              <a:t> pro práci s chybami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Data, která jsou navrácena při úspěchu, jsou obsažena ve variantě Ok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Data navrácena při chybě (označující nejčastěji druh chyby, ke které došlo) jsou obsažena ve variantě </a:t>
            </a:r>
            <a:r>
              <a:rPr lang="cs-CZ" dirty="0" err="1"/>
              <a:t>Err</a:t>
            </a: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Zdroje obrázků: vlastní tvorba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96827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Základní „teze“ </a:t>
            </a:r>
            <a:r>
              <a:rPr lang="cs-CZ" dirty="0" err="1"/>
              <a:t>borrow</a:t>
            </a:r>
            <a:r>
              <a:rPr lang="cs-CZ" dirty="0"/>
              <a:t> </a:t>
            </a:r>
            <a:r>
              <a:rPr lang="cs-CZ" dirty="0" err="1"/>
              <a:t>checkeru</a:t>
            </a:r>
            <a:r>
              <a:rPr lang="cs-CZ" dirty="0"/>
              <a:t> jsou následující:</a:t>
            </a:r>
          </a:p>
          <a:p>
            <a:endParaRPr lang="cs-CZ" dirty="0"/>
          </a:p>
          <a:p>
            <a:r>
              <a:rPr lang="cs-CZ" dirty="0"/>
              <a:t>Každá hodnota má svého jediného vlastníka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Vlastníkem může být proměnná deklarovaná v určitém bloku kódu, nebo nějaký objekt (struktura nebo </a:t>
            </a:r>
            <a:r>
              <a:rPr lang="cs-CZ" dirty="0" err="1"/>
              <a:t>enum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 proměnné dokáže přistupovat pouze její vlastník (nebo blok kódu uvnitř vlastníka)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 výchozím stavu, pokud přiřadíme proměnnou do jiné proměnné, nebo ji předáme jako parametr nějaké funkci bez reference,</a:t>
            </a:r>
            <a:br>
              <a:rPr lang="cs-CZ" dirty="0"/>
            </a:br>
            <a:r>
              <a:rPr lang="cs-CZ" dirty="0"/>
              <a:t>předáme vlastnictví této nové proměnné nebo bloku kódu tvořící kód funkce, tzv. ji přesuneme nebo „předáme přes hodnotu“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Až na později popsanou výjimku, </a:t>
            </a:r>
            <a:r>
              <a:rPr lang="cs-CZ" dirty="0" err="1"/>
              <a:t>trait</a:t>
            </a:r>
            <a:r>
              <a:rPr lang="cs-CZ" dirty="0"/>
              <a:t> Copy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Ve výchozím stavu jsou všechny proměnné a reference neměnné, je třeba je explicitně označit jako měnitelné klíčovým slovem </a:t>
            </a:r>
            <a:r>
              <a:rPr lang="cs-CZ" dirty="0" err="1"/>
              <a:t>mut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jiných jazycích jako C a C++ naopak jsou všechny proměnné měnitelné, pokud nejsou označeny jinak, což m.j. ztěžuje optimalizace kompilátoru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Reference jsou ukazatele na proměnné – hodnoty ukládající adresu v paměti, kde se ukazovaná proměnná nachází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paradigmatu vlastnictví reference „propůjčují“ vlastnictví, povolují vlastníkovi proměnné dočasně přistupovat k proměnné,</a:t>
            </a:r>
            <a:br>
              <a:rPr lang="cs-CZ" dirty="0"/>
            </a:br>
            <a:r>
              <a:rPr lang="cs-CZ" dirty="0"/>
              <a:t>ale vlastnictví zůstává stejné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</a:t>
            </a:r>
            <a:r>
              <a:rPr lang="cs-CZ" dirty="0" err="1"/>
              <a:t>Nejčatěji</a:t>
            </a:r>
            <a:r>
              <a:rPr lang="cs-CZ" dirty="0"/>
              <a:t> jsou propůjčovány funkcím, protože když předáme hodnotu funkci, která ji nám nevrátí, proměnná zanikne,</a:t>
            </a:r>
            <a:br>
              <a:rPr lang="cs-CZ" dirty="0"/>
            </a:br>
            <a:r>
              <a:rPr lang="cs-CZ" dirty="0"/>
              <a:t>    takže pokud předáme funkci jen referenci, tak s hodnotou může funkce pracovat, aniž by proměnná zanikla,</a:t>
            </a:r>
            <a:br>
              <a:rPr lang="cs-CZ" dirty="0"/>
            </a:br>
            <a:r>
              <a:rPr lang="cs-CZ" dirty="0"/>
              <a:t>    v takovém případě tzv. předáme přes referenci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Rovněž se dělí na měnitelné, které mohou měnit hodnotu ukazované proměnné, a neměnné, které mohou pouze číst hodnotu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Borrow</a:t>
            </a:r>
            <a:r>
              <a:rPr lang="cs-CZ" dirty="0"/>
              <a:t> checker zajišťuje, že reference vždy ukazují na platné místo v paměti, zejm. že: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Reference není tzv. nulovým ukazatelem, tedy že neukazuje doslova nikam, na žádnou hodnotu (reprezentováno adresou nula – 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Ukazovaná proměnná nezanikne po celou životnost reference, což </a:t>
            </a:r>
            <a:r>
              <a:rPr lang="cs-CZ" dirty="0" err="1"/>
              <a:t>borrow</a:t>
            </a:r>
            <a:r>
              <a:rPr lang="cs-CZ" dirty="0"/>
              <a:t> checker vynucuje pomocí sledování životností proměnných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V zájmu zabránění souběhu (konfliktnímu přístupu k proměnné) smí existovat naráz (z pohledu životností) buď nejvýše jedna měnitelná reference, nebo nekonečno neměnných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Po skončení životnosti proměnné zavolá kompilátor automaticky její implementaci </a:t>
            </a:r>
            <a:r>
              <a:rPr lang="cs-CZ" dirty="0" err="1"/>
              <a:t>traitu</a:t>
            </a:r>
            <a:r>
              <a:rPr lang="cs-CZ" dirty="0"/>
              <a:t> Drop, pokud existuje,</a:t>
            </a:r>
            <a:br>
              <a:rPr lang="cs-CZ" dirty="0"/>
            </a:br>
            <a:r>
              <a:rPr lang="cs-CZ" dirty="0"/>
              <a:t>která „po sobě uklidí“, například uvolní alokovanou paměť.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Struktury a </a:t>
            </a:r>
            <a:r>
              <a:rPr lang="cs-CZ" dirty="0" err="1"/>
              <a:t>enumy</a:t>
            </a:r>
            <a:r>
              <a:rPr lang="cs-CZ" dirty="0"/>
              <a:t> nejdříve zavolají Drop samy na sobě, a pak na hodnotách v nich uložených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Pokud </a:t>
            </a:r>
            <a:r>
              <a:rPr lang="cs-CZ" dirty="0" err="1"/>
              <a:t>borrow</a:t>
            </a:r>
            <a:r>
              <a:rPr lang="cs-CZ" dirty="0"/>
              <a:t> checker není schopen zajistit, že jeho pravidla budou naplněna, je možné použít ještě tzv. surové ukazatele,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které samy o sobě neposkytují žádné garance a u kterých je za dodržování pravidel zodpovědný programátor.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Ztráta těchto garancí je však nebezpečná, protože nelze 100% prokázat, tudíž je možné přistupovat k hodnotám na adresách,</a:t>
            </a:r>
            <a:br>
              <a:rPr lang="cs-CZ" dirty="0"/>
            </a:br>
            <a:r>
              <a:rPr lang="cs-CZ" dirty="0"/>
              <a:t>na které surové ukazatele ukazují, pouze v speciálně označených blocích </a:t>
            </a:r>
            <a:r>
              <a:rPr lang="cs-CZ" dirty="0" err="1"/>
              <a:t>unsafe</a:t>
            </a:r>
            <a:r>
              <a:rPr lang="cs-CZ" dirty="0"/>
              <a:t>, které tak omezují možný rozsah,</a:t>
            </a:r>
            <a:br>
              <a:rPr lang="cs-CZ" dirty="0"/>
            </a:br>
            <a:r>
              <a:rPr lang="cs-CZ" dirty="0"/>
              <a:t>kde by se mohly dít nebezpečné operace, na nutné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617715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, česky „rysy“, „vlastnosti“ nebo „příznaky“, definují abstraktní chování datových typů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Implementace daného </a:t>
            </a:r>
            <a:r>
              <a:rPr lang="cs-CZ" dirty="0" err="1"/>
              <a:t>traitu</a:t>
            </a:r>
            <a:r>
              <a:rPr lang="cs-CZ" dirty="0"/>
              <a:t> garantuje, že daný typ má určité vlastnosti a implementuje určité metody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    (metody = funkce pracující s daty uvnitř daného typu, nejčastěji struktury, asociované s daným typem)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Chování je u všech typů implementujících daný </a:t>
            </a:r>
            <a:r>
              <a:rPr lang="cs-CZ" dirty="0" err="1"/>
              <a:t>trait</a:t>
            </a:r>
            <a:r>
              <a:rPr lang="cs-CZ" dirty="0"/>
              <a:t> sémanticky stejné, i když samotné implementace v kódu se mohou lišit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mohou volitelně vyžadovat, že mohou být implementovány pouze pokud je implementován i jiný </a:t>
            </a:r>
            <a:r>
              <a:rPr lang="cs-CZ" dirty="0" err="1"/>
              <a:t>trait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</a:t>
            </a:r>
            <a:r>
              <a:rPr lang="cs-CZ" dirty="0"/>
              <a:t>, který je vyžadován, je nazývaný „</a:t>
            </a:r>
            <a:r>
              <a:rPr lang="cs-CZ" dirty="0" err="1"/>
              <a:t>supertrait</a:t>
            </a:r>
            <a:r>
              <a:rPr lang="cs-CZ" dirty="0"/>
              <a:t>“ (jako nadmnožina), vyžadující </a:t>
            </a:r>
            <a:r>
              <a:rPr lang="cs-CZ" dirty="0" err="1"/>
              <a:t>trait</a:t>
            </a:r>
            <a:r>
              <a:rPr lang="cs-CZ" dirty="0"/>
              <a:t> je „</a:t>
            </a:r>
            <a:r>
              <a:rPr lang="cs-CZ" dirty="0" err="1"/>
              <a:t>subtrait</a:t>
            </a:r>
            <a:r>
              <a:rPr lang="cs-CZ" dirty="0"/>
              <a:t>“ (jako podmnožina)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1: Funkce „univerzální“ (přesněji řečeno generické) přes různé typy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Některé operace na určitých typech prostě nedávají smysl: </a:t>
            </a:r>
            <a:r>
              <a:rPr lang="pt-BR" dirty="0"/>
              <a:t>nelze se doptávat na 5. prvek v</a:t>
            </a:r>
            <a:r>
              <a:rPr lang="cs-CZ" dirty="0"/>
              <a:t> </a:t>
            </a:r>
            <a:r>
              <a:rPr lang="cs-CZ" dirty="0" err="1"/>
              <a:t>booleanu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pomáhají omezovat generické parametry na pouze ty typy, které mají určité vlastnosti, které daná funkce vyžaduje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Příklad na obrázku: funkce nemůže přijmout zcela jakýkoli typ, ale pouze takový, který lze porovnávat (</a:t>
            </a:r>
            <a:r>
              <a:rPr lang="cs-CZ" dirty="0" err="1"/>
              <a:t>trait</a:t>
            </a:r>
            <a:r>
              <a:rPr lang="cs-CZ" dirty="0"/>
              <a:t> </a:t>
            </a:r>
            <a:r>
              <a:rPr lang="cs-CZ" dirty="0" err="1"/>
              <a:t>PartialOrd</a:t>
            </a:r>
            <a:r>
              <a:rPr lang="cs-CZ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r>
              <a:rPr lang="cs-CZ" dirty="0"/>
              <a:t>Zdroj obrázku: vlastní, pomocí https://carbon.now.sh/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53322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85223-D280-3EF6-1CA1-BC09051B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593B5-15A7-CBB4-FC12-BEFB26DB8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3F266-B512-1109-6F8B-B19BC4EE2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2: jednotné rozhraní pro knihovny (drivery atd.)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Některé knihovny (typicky ovladače v </a:t>
            </a:r>
            <a:r>
              <a:rPr lang="cs-CZ" dirty="0" err="1"/>
              <a:t>embedded</a:t>
            </a:r>
            <a:r>
              <a:rPr lang="cs-CZ" dirty="0"/>
              <a:t> sféře) potřebují být přenositelné přes mnoho různých </a:t>
            </a:r>
            <a:r>
              <a:rPr lang="cs-CZ" dirty="0" err="1"/>
              <a:t>backendů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Traity</a:t>
            </a:r>
            <a:r>
              <a:rPr lang="cs-CZ" dirty="0"/>
              <a:t> mohou být tímto „styčným bodem“, umožňujícím </a:t>
            </a:r>
            <a:r>
              <a:rPr lang="cs-CZ" dirty="0" err="1"/>
              <a:t>backendům</a:t>
            </a:r>
            <a:r>
              <a:rPr lang="cs-CZ" dirty="0"/>
              <a:t> abstrahovat své fungování do jednotných rozhraní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Knihovny pak mohou cílit na toto jednotné rozhraní a tak podporovat jakýkoli </a:t>
            </a:r>
            <a:r>
              <a:rPr lang="cs-CZ" dirty="0" err="1"/>
              <a:t>backend</a:t>
            </a:r>
            <a:r>
              <a:rPr lang="cs-CZ" dirty="0"/>
              <a:t>, který toto rozhraní implementuje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Například v našem projektu jsme použili knihovnu </a:t>
            </a:r>
            <a:r>
              <a:rPr lang="cs-CZ" dirty="0" err="1"/>
              <a:t>embedded</a:t>
            </a:r>
            <a:r>
              <a:rPr lang="cs-CZ" dirty="0"/>
              <a:t>-hal, která sama o sobě pouze poskytuje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Konkrétní HAL (vrstvy pro abstrakci hardwaru) pak implementují tyto </a:t>
            </a:r>
            <a:r>
              <a:rPr lang="cs-CZ" dirty="0" err="1"/>
              <a:t>traity</a:t>
            </a:r>
            <a:r>
              <a:rPr lang="cs-CZ" dirty="0"/>
              <a:t> na svých strukturách poskytujících přístup k hardwaru,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a ovladače pro periferie mohou psát své funkce generické přes tyto stejné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Každý ovladač je pak schopen běžet na každé HAL bez potíží.</a:t>
            </a:r>
          </a:p>
          <a:p>
            <a:endParaRPr lang="cs-CZ" dirty="0"/>
          </a:p>
          <a:p>
            <a:r>
              <a:rPr lang="cs-CZ" dirty="0"/>
              <a:t>Zdroj obrázku: </a:t>
            </a:r>
            <a:r>
              <a:rPr lang="cs-CZ" dirty="0" err="1"/>
              <a:t>Gemini</a:t>
            </a:r>
            <a:r>
              <a:rPr lang="cs-CZ" dirty="0"/>
              <a:t> 3.1 Pro (2.4.2026)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16A58-DEF8-805F-E932-8A08E9957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44755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Využití 3: samotný jazyk využívá interně různé speciální </a:t>
            </a:r>
            <a:r>
              <a:rPr lang="cs-CZ" dirty="0" err="1"/>
              <a:t>traity</a:t>
            </a:r>
            <a:r>
              <a:rPr lang="cs-CZ" dirty="0"/>
              <a:t> pro některé své funkce</a:t>
            </a:r>
          </a:p>
          <a:p>
            <a:endParaRPr lang="cs-CZ" dirty="0"/>
          </a:p>
          <a:p>
            <a:r>
              <a:rPr lang="cs-CZ" dirty="0" err="1"/>
              <a:t>Traity</a:t>
            </a:r>
            <a:r>
              <a:rPr lang="cs-CZ" dirty="0"/>
              <a:t> </a:t>
            </a:r>
            <a:r>
              <a:rPr lang="cs-CZ" dirty="0" err="1"/>
              <a:t>Clone</a:t>
            </a:r>
            <a:r>
              <a:rPr lang="cs-CZ" dirty="0"/>
              <a:t> a Copy poskytují způsoby, jak zkopírovat hodnotu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Clone</a:t>
            </a:r>
            <a:r>
              <a:rPr lang="cs-CZ" dirty="0"/>
              <a:t> poskytuje nějakou metodu, která vytvoří sémantickou kopii, může alokovat novou paměť atd.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Copy pouze označuje, že lze hodnotu zkopírovat slepou kopií bitů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Pokud typ implementuje Copy, je automaticky kopírován, kdykoli by byl přesunut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Copy vyžaduje i implementaci </a:t>
            </a:r>
            <a:r>
              <a:rPr lang="cs-CZ" dirty="0" err="1"/>
              <a:t>Clone</a:t>
            </a:r>
            <a:r>
              <a:rPr lang="cs-CZ" dirty="0"/>
              <a:t>, který je pak implementovaný prostou kopií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Trait</a:t>
            </a:r>
            <a:r>
              <a:rPr lang="cs-CZ" dirty="0"/>
              <a:t> Drop, jak již bylo popsáno, umožňuje spustit vlastní kód, kdykoli je hodnota zničena (tzv. destruktor)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Např. uvolnění zdrojů, uzavření </a:t>
            </a:r>
            <a:r>
              <a:rPr lang="cs-CZ" dirty="0" err="1"/>
              <a:t>socketu</a:t>
            </a:r>
            <a:r>
              <a:rPr lang="cs-CZ" dirty="0"/>
              <a:t> apod.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Vzájemně se vylučuje s Copy, protože by bylo velmi náročné předvídat, kdy a jak často by byly destruktory volány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Trait</a:t>
            </a:r>
            <a:r>
              <a:rPr lang="cs-CZ" dirty="0"/>
              <a:t> Default vyžaduje metodu, která by fungovala jako výchozí konstruktor, navracejíc výchozí hodnotu typu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Např. u čísel je to nula (0), u </a:t>
            </a:r>
            <a:r>
              <a:rPr lang="cs-CZ" dirty="0" err="1"/>
              <a:t>String</a:t>
            </a:r>
            <a:r>
              <a:rPr lang="cs-CZ" dirty="0"/>
              <a:t> je to prázdný řetězec apod.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traitů</a:t>
            </a:r>
            <a:r>
              <a:rPr lang="cs-CZ" dirty="0"/>
              <a:t> </a:t>
            </a:r>
            <a:r>
              <a:rPr lang="cs-CZ" dirty="0" err="1"/>
              <a:t>PartialEq</a:t>
            </a:r>
            <a:r>
              <a:rPr lang="cs-CZ" dirty="0"/>
              <a:t> a </a:t>
            </a:r>
            <a:r>
              <a:rPr lang="cs-CZ" dirty="0" err="1"/>
              <a:t>Eq</a:t>
            </a:r>
            <a:r>
              <a:rPr lang="cs-CZ" dirty="0"/>
              <a:t> definuje způsob porovnávání u operátoru rovnosti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PartialEq</a:t>
            </a:r>
            <a:r>
              <a:rPr lang="cs-CZ" dirty="0"/>
              <a:t> vyžaduje symetrickou a tranzitivní relaci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Eq</a:t>
            </a:r>
            <a:r>
              <a:rPr lang="cs-CZ" dirty="0"/>
              <a:t> je </a:t>
            </a:r>
            <a:r>
              <a:rPr lang="cs-CZ" dirty="0" err="1"/>
              <a:t>subtrait</a:t>
            </a:r>
            <a:r>
              <a:rPr lang="cs-CZ" dirty="0"/>
              <a:t> (podmnožina) </a:t>
            </a:r>
            <a:r>
              <a:rPr lang="cs-CZ" dirty="0" err="1"/>
              <a:t>PartialEq</a:t>
            </a:r>
            <a:r>
              <a:rPr lang="cs-CZ" dirty="0"/>
              <a:t> a vyžaduje navíc reflexivní relaci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PartialOrd</a:t>
            </a:r>
            <a:r>
              <a:rPr lang="cs-CZ" dirty="0"/>
              <a:t> a </a:t>
            </a:r>
            <a:r>
              <a:rPr lang="cs-CZ" dirty="0" err="1"/>
              <a:t>Ord</a:t>
            </a:r>
            <a:r>
              <a:rPr lang="cs-CZ" dirty="0"/>
              <a:t> definuje způsob porovnávání / seřazování u operátorů nerovnosti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Porovnání </a:t>
            </a:r>
            <a:r>
              <a:rPr lang="cs-CZ" dirty="0" err="1"/>
              <a:t>PartialOrd</a:t>
            </a:r>
            <a:r>
              <a:rPr lang="cs-CZ" dirty="0"/>
              <a:t> může selhat, </a:t>
            </a:r>
            <a:r>
              <a:rPr lang="cs-CZ" dirty="0" err="1"/>
              <a:t>Ord</a:t>
            </a:r>
            <a:r>
              <a:rPr lang="cs-CZ" dirty="0"/>
              <a:t> je schopno seřadit celou množinu hodnot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Předešlé dva </a:t>
            </a:r>
            <a:r>
              <a:rPr lang="cs-CZ" dirty="0" err="1"/>
              <a:t>traity</a:t>
            </a:r>
            <a:r>
              <a:rPr lang="cs-CZ" dirty="0"/>
              <a:t> </a:t>
            </a:r>
            <a:r>
              <a:rPr lang="cs-CZ" dirty="0" err="1"/>
              <a:t>Partial</a:t>
            </a:r>
            <a:r>
              <a:rPr lang="cs-CZ" dirty="0"/>
              <a:t>* existují hlavně kvůli číslům s plovoucí desetinnou čárkou, protože hodnota </a:t>
            </a:r>
            <a:r>
              <a:rPr lang="cs-CZ" dirty="0" err="1"/>
              <a:t>NaN</a:t>
            </a:r>
            <a:r>
              <a:rPr lang="cs-CZ" dirty="0"/>
              <a:t> (=není číslo)</a:t>
            </a:r>
            <a:br>
              <a:rPr lang="cs-CZ" dirty="0"/>
            </a:br>
            <a:r>
              <a:rPr lang="cs-CZ" dirty="0"/>
              <a:t>se nerovná sama sobě (ani ničemu jinému) a jakékoli porovnání s ní je nepravdivé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Debug</a:t>
            </a:r>
            <a:r>
              <a:rPr lang="cs-CZ" dirty="0"/>
              <a:t> a Display specifikuje způsob, jak formátovat hodnotu na text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Debug</a:t>
            </a:r>
            <a:r>
              <a:rPr lang="cs-CZ" dirty="0"/>
              <a:t> je zamýšleno jako zobrazení pro programátora, nemá být nijak „hezké“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Ideálně úplně každý typ by ho měl implementovat, i třeba jen jako výčet hodnot polí ve struktuře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Display je zamýšleno jako zobrazení pro uživatele, mělo by zobrazovat sémantickou hodnotu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Clone</a:t>
            </a:r>
            <a:r>
              <a:rPr lang="cs-CZ" dirty="0"/>
              <a:t>, Copy, Default, </a:t>
            </a:r>
            <a:r>
              <a:rPr lang="cs-CZ" dirty="0" err="1"/>
              <a:t>Debug</a:t>
            </a:r>
            <a:r>
              <a:rPr lang="cs-CZ" dirty="0"/>
              <a:t> a porovnávání lze automaticky implementovat na naše typy pomocí makra </a:t>
            </a:r>
            <a:r>
              <a:rPr lang="cs-CZ" dirty="0" err="1"/>
              <a:t>derive</a:t>
            </a:r>
            <a:r>
              <a:rPr lang="cs-CZ" dirty="0"/>
              <a:t>,</a:t>
            </a:r>
            <a:br>
              <a:rPr lang="cs-CZ" dirty="0"/>
            </a:br>
            <a:r>
              <a:rPr lang="cs-CZ" dirty="0"/>
              <a:t>ale obvykle pouze pokud je všechny položky ve struktuře / </a:t>
            </a:r>
            <a:r>
              <a:rPr lang="cs-CZ" dirty="0" err="1"/>
              <a:t>enumu</a:t>
            </a:r>
            <a:r>
              <a:rPr lang="cs-CZ" dirty="0"/>
              <a:t> rovněž implementují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02484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Na začátku běhu programu ty nejsložitější funkce zařídí námi použitý HAL (=vrstva pro abstrakci hardwaru) ve spolupráci s pevně zakódovanou logikou v čipu</a:t>
            </a:r>
          </a:p>
          <a:p>
            <a:endParaRPr lang="cs-CZ" dirty="0"/>
          </a:p>
          <a:p>
            <a:r>
              <a:rPr lang="cs-CZ" dirty="0"/>
              <a:t>Poté, co konečně získáme kontrolu nad čipem (HAL spustí naši hlavní funkci – </a:t>
            </a:r>
            <a:r>
              <a:rPr lang="cs-CZ" dirty="0" err="1"/>
              <a:t>main</a:t>
            </a:r>
            <a:r>
              <a:rPr lang="cs-CZ" dirty="0"/>
              <a:t>()), je potřeba: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Přepnout z výchozího, ale poměrně nepřesného časovače </a:t>
            </a:r>
            <a:r>
              <a:rPr lang="cs-CZ" dirty="0" err="1"/>
              <a:t>ROSC</a:t>
            </a:r>
            <a:r>
              <a:rPr lang="cs-CZ" dirty="0"/>
              <a:t> (prstenec hradel NOT) na krystalové hodiny </a:t>
            </a:r>
            <a:r>
              <a:rPr lang="cs-CZ" dirty="0" err="1"/>
              <a:t>XOSC</a:t>
            </a:r>
            <a:r>
              <a:rPr lang="cs-CZ" dirty="0"/>
              <a:t> (s externím krystalem)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Aktivovat a nastavit periferie I2C a </a:t>
            </a:r>
            <a:r>
              <a:rPr lang="cs-CZ" dirty="0" err="1"/>
              <a:t>UART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Připojit se k displeji přes sběrnici I2C a inicializovat ho pomocí funkcí poskytovaných ovladačem</a:t>
            </a:r>
            <a:br>
              <a:rPr lang="cs-CZ" dirty="0"/>
            </a:br>
            <a:r>
              <a:rPr lang="cs-CZ" dirty="0"/>
              <a:t>(snímek obrazovky z kódu ovladače vpravo)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Vytvořit datové struktury, které náš kód potřebuje, tedy struktury zásobníku a textového pole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Nakonec procesor vejde do nekonečné smyčky (ze které se nedostane jinak než restartem)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Přečte 1 bajt z rozhraní </a:t>
            </a:r>
            <a:r>
              <a:rPr lang="cs-CZ" dirty="0" err="1"/>
              <a:t>UART</a:t>
            </a:r>
            <a:r>
              <a:rPr lang="cs-CZ" dirty="0"/>
              <a:t> (čeká, dokud nějaký nedorazí) a převede ho na Unicode znak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Pomocí velkého výrazu </a:t>
            </a:r>
            <a:r>
              <a:rPr lang="cs-CZ" dirty="0" err="1"/>
              <a:t>match</a:t>
            </a:r>
            <a:r>
              <a:rPr lang="cs-CZ" dirty="0"/>
              <a:t> se rozhodne, jak se zachová podle toho, o jaký znak jde</a:t>
            </a:r>
            <a:br>
              <a:rPr lang="cs-CZ" dirty="0"/>
            </a:br>
            <a:r>
              <a:rPr lang="cs-CZ" dirty="0"/>
              <a:t>(přidání znaku do textového pole / odstranění znaku / negace vstupu / matematická operace / ovládání kalkulačky)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Celý kód se nenachází pouze v jednom souboru, ale pro vyšší čitelnost i lepší členění rozdělen do více modulů, každý v zvláštním souboru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Modul </a:t>
            </a:r>
            <a:r>
              <a:rPr lang="cs-CZ" dirty="0" err="1"/>
              <a:t>stack</a:t>
            </a:r>
            <a:r>
              <a:rPr lang="cs-CZ" dirty="0"/>
              <a:t> je zodpovědný za definici samotné datové struktury zásobníku, na kterou ukládáme čísla, se kterými provádíme operace, a kterou zobrazujeme na displej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Modul </a:t>
            </a:r>
            <a:r>
              <a:rPr lang="cs-CZ" dirty="0" err="1"/>
              <a:t>textbox</a:t>
            </a:r>
            <a:r>
              <a:rPr lang="cs-CZ" dirty="0"/>
              <a:t> definuje pomocnou strukturu, která provádí operace na textovém poli a vykresluje jej na displej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Modul </a:t>
            </a:r>
            <a:r>
              <a:rPr lang="cs-CZ" dirty="0" err="1"/>
              <a:t>decfix</a:t>
            </a:r>
            <a:r>
              <a:rPr lang="cs-CZ" dirty="0"/>
              <a:t> obsahuje kód pro náš (dále popsaný) datový typ čísla s fixní desetinnou čárkou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Modul </a:t>
            </a:r>
            <a:r>
              <a:rPr lang="cs-CZ" dirty="0" err="1"/>
              <a:t>custom_error</a:t>
            </a:r>
            <a:r>
              <a:rPr lang="cs-CZ" dirty="0"/>
              <a:t> popisuje </a:t>
            </a:r>
            <a:r>
              <a:rPr lang="cs-CZ" dirty="0" err="1"/>
              <a:t>enum</a:t>
            </a:r>
            <a:r>
              <a:rPr lang="cs-CZ" dirty="0"/>
              <a:t>, který v celé aplikaci používáme pro práci s chybami, obsahující všechny možné typy chyb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Nakonec modul </a:t>
            </a:r>
            <a:r>
              <a:rPr lang="cs-CZ" dirty="0" err="1"/>
              <a:t>command_mode</a:t>
            </a:r>
            <a:r>
              <a:rPr lang="cs-CZ" dirty="0"/>
              <a:t> se skládá pouze z jedné funkce, skrze kterou implementujeme příkazový mód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52028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 průběhu tvorby kalkulačky nastal těžký problém: buď zůstat u celočíselných operací a mít rozbité dělení,</a:t>
            </a:r>
            <a:br>
              <a:rPr lang="cs-CZ" dirty="0"/>
            </a:br>
            <a:r>
              <a:rPr lang="cs-CZ" dirty="0"/>
              <a:t>nebo používat čísla s plovoucí desetinnou čárkou a mít nepřesné všechny operace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Čísla s plovoucí desetinnou čárkou jsou také binární, takže se snaží napasovat své hodnoty do binárních desetinných čísel,</a:t>
            </a:r>
            <a:br>
              <a:rPr lang="cs-CZ" dirty="0"/>
            </a:br>
            <a:r>
              <a:rPr lang="cs-CZ" dirty="0"/>
              <a:t>což ale v mnoha případech vede k nepřesnému a neintuitivnímu zaokrouhlování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Nenašel jsem žádnou vhodnou knihovnu, která by to implementovala za mě, takže jsem se rozhodl si to napsat sám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Struktura se skládá z dvou čísel: </a:t>
            </a:r>
            <a:r>
              <a:rPr lang="cs-CZ" dirty="0" err="1"/>
              <a:t>value</a:t>
            </a:r>
            <a:r>
              <a:rPr lang="cs-CZ" dirty="0"/>
              <a:t> (hodnota) a exponent. Sémantická hodnota je číslo </a:t>
            </a:r>
            <a:r>
              <a:rPr lang="cs-CZ" dirty="0" err="1"/>
              <a:t>value</a:t>
            </a:r>
            <a:r>
              <a:rPr lang="cs-CZ" dirty="0"/>
              <a:t> vynásobené</a:t>
            </a:r>
            <a:br>
              <a:rPr lang="cs-CZ" dirty="0"/>
            </a:br>
            <a:r>
              <a:rPr lang="cs-CZ" dirty="0"/>
              <a:t>desítkou umocněnou na číslo exponent = číslo </a:t>
            </a:r>
            <a:r>
              <a:rPr lang="cs-CZ" dirty="0" err="1"/>
              <a:t>value</a:t>
            </a:r>
            <a:r>
              <a:rPr lang="cs-CZ" dirty="0"/>
              <a:t> s desetinnou čárkou posunutou o „exponent“ míst doprava (doleva, pokud záporné)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Výchozí exponent je mínus devět, což odpovídá přesnosti na devět desetinných míst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Celkový rozsah reprezentovatelných hodnot je přibližně ±9,2 miliard – dostatek pro běžné počty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Sčítání a odčítání čísel v takovémto formátu je prosté, stačí sčítat jen hodnoty </a:t>
            </a:r>
            <a:r>
              <a:rPr lang="cs-CZ" dirty="0" err="1"/>
              <a:t>value</a:t>
            </a:r>
            <a:r>
              <a:rPr lang="cs-CZ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ale násobení a dělení by sčítaly / odčítaly exponenty, takže je potřeba čísla škálovat tak, aby výsledek zachoval exponent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Čísla vytvářena pomocí zpracování textu na číslo funkcí </a:t>
            </a:r>
            <a:r>
              <a:rPr lang="cs-CZ" dirty="0" err="1"/>
              <a:t>parse_str</a:t>
            </a:r>
            <a:r>
              <a:rPr lang="cs-CZ" dirty="0"/>
              <a:t>(), která jej rozdělí podle desetinné čárky a zpracuje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Pokud není desetinná část přesně 9 číslic dlouhá, buď ji zkrátí, nebo doplní nulami (oboje zprava), obě části sečte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Pro zobrazení na displej implementuje </a:t>
            </a:r>
            <a:r>
              <a:rPr lang="cs-CZ" dirty="0" err="1"/>
              <a:t>trait</a:t>
            </a:r>
            <a:r>
              <a:rPr lang="cs-CZ" dirty="0"/>
              <a:t> Display, který naopak formátuje číslo na text,</a:t>
            </a:r>
            <a:br>
              <a:rPr lang="cs-CZ" dirty="0"/>
            </a:br>
            <a:r>
              <a:rPr lang="cs-CZ" dirty="0"/>
              <a:t>rozdělí textový řetězec podle místa desetinné čárky, a vloží ji, pokud není desetinná část nulová.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379799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Příkazový mód kalkulačky, interně nazván </a:t>
            </a:r>
            <a:r>
              <a:rPr lang="cs-CZ" dirty="0" err="1"/>
              <a:t>command</a:t>
            </a:r>
            <a:r>
              <a:rPr lang="cs-CZ" dirty="0"/>
              <a:t> mode (neboť kód i jeho komentáře jsem psal v angličtině),</a:t>
            </a:r>
            <a:br>
              <a:rPr lang="cs-CZ" dirty="0"/>
            </a:br>
            <a:r>
              <a:rPr lang="cs-CZ" dirty="0"/>
              <a:t>slouží k ovládání kalkulačky mimo provádění matematických operací nebo zadávání čísel. Uživatel do něj přepne klávesou </a:t>
            </a:r>
            <a:r>
              <a:rPr lang="cs-CZ" dirty="0" err="1"/>
              <a:t>Ctrl+T</a:t>
            </a:r>
            <a:r>
              <a:rPr lang="cs-CZ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Textové pole začne přijímat alfanumerické znaky (písmena a čísla), aby do něj uživatel zadal textový příkaz</a:t>
            </a:r>
          </a:p>
          <a:p>
            <a:endParaRPr lang="cs-CZ" dirty="0"/>
          </a:p>
          <a:p>
            <a:r>
              <a:rPr lang="cs-CZ" dirty="0"/>
              <a:t>Některé příkazy jsou používány pro jednodušší ladění (reset, </a:t>
            </a:r>
            <a:r>
              <a:rPr lang="cs-CZ" dirty="0" err="1"/>
              <a:t>breakpoint</a:t>
            </a:r>
            <a:r>
              <a:rPr lang="cs-CZ" dirty="0"/>
              <a:t> / </a:t>
            </a:r>
            <a:r>
              <a:rPr lang="cs-CZ" dirty="0" err="1"/>
              <a:t>breakpoint</a:t>
            </a:r>
            <a:r>
              <a:rPr lang="cs-CZ" dirty="0"/>
              <a:t> alt, </a:t>
            </a:r>
            <a:r>
              <a:rPr lang="cs-CZ" dirty="0" err="1"/>
              <a:t>boot</a:t>
            </a:r>
            <a:r>
              <a:rPr lang="cs-CZ" dirty="0"/>
              <a:t> </a:t>
            </a:r>
            <a:r>
              <a:rPr lang="cs-CZ" dirty="0" err="1"/>
              <a:t>usb</a:t>
            </a:r>
            <a:r>
              <a:rPr lang="cs-CZ" dirty="0"/>
              <a:t>, </a:t>
            </a:r>
            <a:r>
              <a:rPr lang="cs-CZ" dirty="0" err="1"/>
              <a:t>redraw</a:t>
            </a:r>
            <a:r>
              <a:rPr lang="cs-CZ" dirty="0"/>
              <a:t>)</a:t>
            </a:r>
          </a:p>
          <a:p>
            <a:endParaRPr lang="cs-CZ" dirty="0"/>
          </a:p>
          <a:p>
            <a:r>
              <a:rPr lang="cs-CZ" dirty="0"/>
              <a:t>Příkaz </a:t>
            </a:r>
            <a:r>
              <a:rPr lang="cs-CZ" dirty="0" err="1"/>
              <a:t>brightness</a:t>
            </a:r>
            <a:r>
              <a:rPr lang="cs-CZ" dirty="0"/>
              <a:t> {1-5} nastaví jas displeje na jeden z pěti úrovní</a:t>
            </a:r>
          </a:p>
          <a:p>
            <a:endParaRPr lang="cs-CZ" dirty="0"/>
          </a:p>
          <a:p>
            <a:r>
              <a:rPr lang="cs-CZ" dirty="0"/>
              <a:t>Další příkazy ovládají zásobník, na kterém jsou čísla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clear</a:t>
            </a:r>
            <a:r>
              <a:rPr lang="cs-CZ" dirty="0"/>
              <a:t> vymaže zásobník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duplicate</a:t>
            </a:r>
            <a:r>
              <a:rPr lang="cs-CZ" dirty="0"/>
              <a:t> </a:t>
            </a:r>
            <a:r>
              <a:rPr lang="cs-CZ" dirty="0" err="1"/>
              <a:t>zduplikuje</a:t>
            </a:r>
            <a:r>
              <a:rPr lang="cs-CZ" dirty="0"/>
              <a:t> posední číslo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drop upustí vrchních N čísel, pokud není číslo zadáno, tak jedno vrchní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swap prohodí vrchní dvě položky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337376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2E14DC-341B-17C7-3A17-0634DF969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40F2C05-9472-B5BB-C39F-4D32B168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9C04C81-4B68-D9F4-29B6-39C93A515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DD4BE3-D84B-CD98-C689-BC3590949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D2C5620-01F3-725F-5599-4BE1152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93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84068D-6737-096C-A630-39E0BC5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FB85160-40B1-C214-1533-32BA1974E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5EDCA7-8870-2563-0465-4B2F7CB15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96D8540-537C-D6C9-7A45-F39FF9C4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C662603-8AE6-76FF-3172-59FF5E406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970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C7AAA1-444F-B953-5B21-3D8BFC21E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5F81BB-699F-8E86-345B-1BC0BF956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C39D07-7C25-0725-E691-B1CB338A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6C664D4-164B-C3D4-F360-58478349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BFEC52B-D068-9FEE-A6A1-9C278D93D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6092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1B86B-B70D-EFC3-3AD7-A29EDFF0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AE3184-FD26-F48A-1FA8-9E1EBAAC71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4D3B06-7B3C-19A4-CD55-7824B0822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A35220D-B3EC-058F-1678-CB0DA036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B71856C-E0A1-453D-2E50-5FF2C7D36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5598EBAE-93F1-5D31-ECDC-40C774999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213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930D8B-2511-0884-C232-4C68AEC3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B76654E-7367-B090-3B89-F7AABAB44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9A39560-436D-BA81-9B8D-F7E23BAAB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10224AF-6001-2B11-547D-DF67050DC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572EA31-3752-3279-3189-332240E93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D57C7C3-7C20-E0DF-ABF5-28DAF1DB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868574FA-8365-9305-47A7-D94FFE71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5A69781-813D-28E3-C830-D62D11F3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330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BC724B-B342-F9B8-F731-F10E5791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DD4E031-3E0E-B462-20B0-959DBC4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9205EF7-C433-9334-9A69-38F47E5E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A45553B-EF95-ACC4-1D83-01C2D33C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59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3D0C52D-D42D-06AA-8E41-93BABE78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23F909-847D-B598-73D4-5DD485F7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9CBA90E-2D9A-265D-943E-4130D1653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5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B64919-57C4-FDF3-94AE-FBA6C436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FDECE9-C358-C77B-8818-66EE93EBF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016BE2-B814-40D2-DE3A-F21406D1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566EB5-0C8B-3A65-9C52-36CA38B03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0AEB5B2-4A5C-D0DE-351C-CA3D0C5D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80A147-71FB-A659-42C9-79CFB43C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637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8EB971-D159-6416-0039-3C6A9217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94840240-801F-3F1C-6E88-8E601524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5C24D53-D1EC-2F41-E024-B660DBB2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69A0865-D710-F5C3-7203-53BA0DEAE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DD7315EC-212E-80BB-94B2-7B57297E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F59B708-410B-B9F6-8350-64A6BCB4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351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5718CF-384F-FD7F-7152-28AAF3A5E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51E4027-0119-59EF-755E-8F41E2A93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8025D34-5ED4-215F-4DDC-04EB2D5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8514CA-2CA2-A5BE-0EF6-A7163F9D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29E03C8-B034-F55F-F7DB-4DC86AEF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18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C7F227F-70A8-369B-629F-1E6556FDA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05ECDC8-CB57-AF1C-3A79-B42557A9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A771BA8-9891-5785-0AE4-D7BABDB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8ABBE1E-0E4A-FA91-6A19-2D0EEBE14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11774F-BFB7-7E6C-06E6-BA05ACB0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1199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C49A5DC7-47D3-6381-D6FF-F5158EBDD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E9BF764-6C4F-F24A-FFAA-F541A407D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BB60840-3CC7-AE63-29A9-E027866E8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D3673-CB33-4FFC-8C38-E9A4E5339B0B}" type="datetimeFigureOut">
              <a:rPr lang="cs-CZ" smtClean="0"/>
              <a:t>07.04.2026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D6D2308-B720-4E9F-55D4-4EF744E933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17881AC-861F-C33D-DF8A-89012FB43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75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449AC5C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1D3B1A8A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236875D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A662A3-29D5-03EE-CECF-466324BB7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Kalkulačka v postfixové notaci na čipu RP2040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C1D2AE8-0634-AB3F-B897-BA5DDD296E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Maturitní práce z informatiky</a:t>
            </a:r>
          </a:p>
          <a:p>
            <a:r>
              <a:rPr lang="cs-CZ" dirty="0"/>
              <a:t>Ondřej Běhal, oktáva B, 2025/26</a:t>
            </a:r>
          </a:p>
        </p:txBody>
      </p:sp>
    </p:spTree>
    <p:extLst>
      <p:ext uri="{BB962C8B-B14F-4D97-AF65-F5344CB8AC3E}">
        <p14:creationId xmlns:p14="http://schemas.microsoft.com/office/powerpoint/2010/main" val="145714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6F417-4380-1BB1-4BF1-4CB56BDC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Výběr tématu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B7F35-A90D-90D9-7179-FF8F2DAB6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Aaa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8705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091427-C544-9E66-4423-738E77C1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Postfixová notace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39005" cy="4351338"/>
              </a:xfrm>
            </p:spPr>
            <p:txBody>
              <a:bodyPr/>
              <a:lstStyle/>
              <a:p>
                <a:r>
                  <a:rPr lang="cs-CZ" dirty="0"/>
                  <a:t>= zpětná polská notace (</a:t>
                </a:r>
                <a:r>
                  <a:rPr lang="cs-CZ" dirty="0" err="1"/>
                  <a:t>RPN</a:t>
                </a:r>
                <a:r>
                  <a:rPr lang="cs-CZ" dirty="0"/>
                  <a:t>)</a:t>
                </a:r>
              </a:p>
              <a:p>
                <a:r>
                  <a:rPr lang="cs-CZ" dirty="0"/>
                  <a:t>Operátory psány </a:t>
                </a:r>
                <a:r>
                  <a:rPr lang="cs-CZ" i="1" dirty="0"/>
                  <a:t>za</a:t>
                </a:r>
                <a:r>
                  <a:rPr lang="cs-CZ" dirty="0"/>
                  <a:t> operandy, ne </a:t>
                </a:r>
                <a:r>
                  <a:rPr lang="cs-CZ" i="1" dirty="0"/>
                  <a:t>mezi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Obvykle implementováno skrze zásobník (poslední dovnitř, první ven)</a:t>
                </a:r>
              </a:p>
              <a:p>
                <a:r>
                  <a:rPr lang="cs-CZ" dirty="0"/>
                  <a:t>Bez závorek; jednodušší (pro počítače)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r>
                      <a:rPr lang="cs-CZ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 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cs-CZ" dirty="0"/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e>
                    </m:d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2+3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2+3</m:t>
                            </m:r>
                          </m:e>
                        </m:d>
                        <m:r>
                          <a:rPr lang="cs-CZ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÷</m:t>
                        </m:r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cs-CZ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×4</m:t>
                            </m:r>
                          </m:e>
                        </m:d>
                      </m:e>
                    </m:d>
                    <m:r>
                      <a:rPr lang="cs-CZ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⇒2 3+5 4×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÷5+</m:t>
                    </m:r>
                  </m:oMath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 xmlns="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39005" cy="4351338"/>
              </a:xfrm>
              <a:blipFill>
                <a:blip r:embed="rId3"/>
                <a:stretch>
                  <a:fillRect l="-922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P 12C Platinum 25th Anniversary Edition">
            <a:extLst>
              <a:ext uri="{FF2B5EF4-FFF2-40B4-BE49-F238E27FC236}">
                <a16:creationId xmlns:a16="http://schemas.microsoft.com/office/drawing/2014/main" id="{DB5B7F64-9BBB-9D58-C84A-23491A29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0218" y="0"/>
            <a:ext cx="4211782" cy="269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69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F3CF4E-295C-DF36-8D39-9F00FE8DB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8"/>
          <a:stretch>
            <a:fillRect/>
          </a:stretch>
        </p:blipFill>
        <p:spPr>
          <a:xfrm rot="369497">
            <a:off x="4055744" y="2998963"/>
            <a:ext cx="5080000" cy="39342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60781E-0EED-EA99-93D6-14C9A393ED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1"/>
          <a:stretch>
            <a:fillRect/>
          </a:stretch>
        </p:blipFill>
        <p:spPr>
          <a:xfrm rot="21175835">
            <a:off x="254000" y="247649"/>
            <a:ext cx="4187439" cy="435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680142-C4A9-51ED-20F5-9C554CD749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05470">
            <a:off x="9332112" y="3573306"/>
            <a:ext cx="2586991" cy="2586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B71CE3-BED5-C277-A71B-B062DE160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2" t="1385" r="4086" b="1736"/>
          <a:stretch>
            <a:fillRect/>
          </a:stretch>
        </p:blipFill>
        <p:spPr>
          <a:xfrm rot="21004061">
            <a:off x="8116716" y="273685"/>
            <a:ext cx="3859733" cy="283474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63EDE3D-2B12-F92D-AC18-DB824B92058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93735" y="-3095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F4B3-035B-A1FF-2F05-763397A7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64387-3FD7-3EF0-2F93-3902CAD58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cs-CZ" dirty="0"/>
              <a:t>Hlavní vlastnosti </a:t>
            </a:r>
            <a:r>
              <a:rPr lang="cs-CZ" dirty="0" err="1"/>
              <a:t>Rustu</a:t>
            </a:r>
            <a:r>
              <a:rPr lang="cs-CZ" dirty="0"/>
              <a:t>:</a:t>
            </a:r>
          </a:p>
          <a:p>
            <a:r>
              <a:rPr lang="cs-CZ" dirty="0"/>
              <a:t>hluboce integrovaný statický analyzátor (</a:t>
            </a:r>
            <a:r>
              <a:rPr lang="cs-CZ" dirty="0" err="1"/>
              <a:t>borrow</a:t>
            </a:r>
            <a:r>
              <a:rPr lang="cs-CZ" dirty="0"/>
              <a:t> checker), koncept vlastnictví</a:t>
            </a:r>
          </a:p>
          <a:p>
            <a:pPr lvl="1"/>
            <a:r>
              <a:rPr lang="cs-CZ" dirty="0"/>
              <a:t>"pokud se to zkompiluje, tak to poběží"</a:t>
            </a:r>
          </a:p>
          <a:p>
            <a:r>
              <a:rPr lang="cs-CZ" dirty="0"/>
              <a:t>deterministická správa paměti bez náhodných pauz pro "paměťového popeláře" --&gt; efektivita</a:t>
            </a:r>
          </a:p>
          <a:p>
            <a:r>
              <a:rPr lang="cs-CZ" dirty="0"/>
              <a:t>generické funkce a typy, systém </a:t>
            </a:r>
            <a:r>
              <a:rPr lang="cs-CZ" dirty="0" err="1"/>
              <a:t>traitů</a:t>
            </a:r>
            <a:r>
              <a:rPr lang="cs-CZ" dirty="0"/>
              <a:t> poskytující garanci vlastností a schopností namísto OOP --&gt; vhodné pro procedurální paradigma</a:t>
            </a:r>
          </a:p>
          <a:p>
            <a:r>
              <a:rPr lang="cs-CZ" dirty="0"/>
              <a:t>chyby jako hodnoty – sjednocené paradigma zpracovávání chyb pomocí algebraických datových typů (</a:t>
            </a:r>
            <a:r>
              <a:rPr lang="cs-CZ" dirty="0" err="1"/>
              <a:t>enumy</a:t>
            </a:r>
            <a:r>
              <a:rPr lang="cs-CZ" dirty="0"/>
              <a:t> s daty), žádné zapomenuté </a:t>
            </a:r>
            <a:r>
              <a:rPr lang="cs-CZ" dirty="0" err="1"/>
              <a:t>if</a:t>
            </a:r>
            <a:r>
              <a:rPr lang="cs-CZ" dirty="0"/>
              <a:t> (</a:t>
            </a:r>
            <a:r>
              <a:rPr lang="cs-CZ" dirty="0" err="1"/>
              <a:t>ptr</a:t>
            </a:r>
            <a:r>
              <a:rPr lang="cs-CZ" dirty="0"/>
              <a:t> != </a:t>
            </a:r>
            <a:r>
              <a:rPr lang="cs-CZ" dirty="0" err="1"/>
              <a:t>nullptr</a:t>
            </a:r>
            <a:r>
              <a:rPr lang="cs-CZ" dirty="0"/>
              <a:t>)</a:t>
            </a:r>
          </a:p>
          <a:p>
            <a:r>
              <a:rPr lang="cs-CZ" dirty="0"/>
              <a:t>politika abstrakce bez dopadu na výkon ("manuálně bys to nenapsal lépe")</a:t>
            </a:r>
          </a:p>
          <a:p>
            <a:r>
              <a:rPr lang="cs-CZ" dirty="0"/>
              <a:t>sjednocený systém pro sestavování a správce balíčků</a:t>
            </a:r>
          </a:p>
          <a:p>
            <a:r>
              <a:rPr lang="cs-CZ" dirty="0"/>
              <a:t>dobře čitelné chybové hlášky</a:t>
            </a:r>
          </a:p>
          <a:p>
            <a:r>
              <a:rPr lang="cs-CZ" dirty="0"/>
              <a:t>(okrajově) podpora pro bezpečnější a jednoduší souběžnost</a:t>
            </a:r>
          </a:p>
        </p:txBody>
      </p:sp>
    </p:spTree>
    <p:extLst>
      <p:ext uri="{BB962C8B-B14F-4D97-AF65-F5344CB8AC3E}">
        <p14:creationId xmlns:p14="http://schemas.microsoft.com/office/powerpoint/2010/main" val="3860842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FBA949-CCF9-9B6B-44CC-19765F4E3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Rust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755DE1-F317-B53D-6CE7-0FA95ABFE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dirty="0"/>
              <a:t>Moderní (m.j.) systémový programovací jazyk</a:t>
            </a:r>
          </a:p>
          <a:p>
            <a:pPr lvl="1"/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, výkonný, přesto poskytuje abstrakci</a:t>
            </a:r>
          </a:p>
          <a:p>
            <a:pPr lvl="1"/>
            <a:r>
              <a:rPr lang="cs-CZ" dirty="0"/>
              <a:t>Odstup času =&gt; vyhnutí se starým chybám</a:t>
            </a:r>
          </a:p>
          <a:p>
            <a:r>
              <a:rPr lang="cs-CZ" dirty="0"/>
              <a:t>Hluboce integrovaný statický analyzátor – </a:t>
            </a:r>
            <a:r>
              <a:rPr lang="cs-CZ" dirty="0" err="1"/>
              <a:t>borrow</a:t>
            </a:r>
            <a:r>
              <a:rPr lang="cs-CZ" dirty="0"/>
              <a:t> checker</a:t>
            </a:r>
          </a:p>
          <a:p>
            <a:pPr lvl="1"/>
            <a:r>
              <a:rPr lang="cs-CZ" dirty="0"/>
              <a:t>Koncept vlastnictví a životností =&gt; paměťová bezpečnost</a:t>
            </a:r>
          </a:p>
          <a:p>
            <a:r>
              <a:rPr lang="cs-CZ" dirty="0"/>
              <a:t>Chyby jako hodnoty =&gt; explicitní</a:t>
            </a:r>
          </a:p>
          <a:p>
            <a:r>
              <a:rPr lang="cs-CZ" dirty="0"/>
              <a:t>Generické programování, systém </a:t>
            </a:r>
            <a:r>
              <a:rPr lang="cs-CZ" dirty="0" err="1"/>
              <a:t>traitů</a:t>
            </a:r>
            <a:endParaRPr lang="cs-CZ" dirty="0"/>
          </a:p>
          <a:p>
            <a:r>
              <a:rPr lang="cs-CZ" dirty="0"/>
              <a:t>Kvalitní nástroje</a:t>
            </a:r>
          </a:p>
          <a:p>
            <a:r>
              <a:rPr lang="cs-CZ" dirty="0"/>
              <a:t>Od roku 2016 „nejmilovanější“ jazyk v průzkumech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95BDB74-733A-FDE2-A739-0DE3B915B4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7040" y="-47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498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940D3-E158-1255-6253-DDC86DF07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pPr>
              <a:tabLst>
                <a:tab pos="1971675" algn="l"/>
              </a:tabLst>
            </a:pPr>
            <a:r>
              <a:rPr lang="cs-CZ" sz="5400" dirty="0" err="1"/>
              <a:t>Enum</a:t>
            </a:r>
            <a:r>
              <a:rPr lang="cs-CZ" sz="5400" dirty="0"/>
              <a:t>	/ˈ</a:t>
            </a:r>
            <a:r>
              <a:rPr lang="cs-CZ" sz="5400" dirty="0" err="1"/>
              <a:t>inʌm</a:t>
            </a:r>
            <a:r>
              <a:rPr lang="cs-CZ" sz="5400" dirty="0"/>
              <a:t>/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78074-DBD7-5D46-2FE2-5F5EBCCDE4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79" y="2706624"/>
                <a:ext cx="7328263" cy="3483864"/>
              </a:xfrm>
            </p:spPr>
            <p:txBody>
              <a:bodyPr>
                <a:normAutofit/>
              </a:bodyPr>
              <a:lstStyle/>
              <a:p>
                <a:r>
                  <a:rPr lang="cs-CZ" sz="2200" dirty="0"/>
                  <a:t>Jinde: výčtový typ (fixní sada hodnot s identifikátory)</a:t>
                </a:r>
              </a:p>
              <a:p>
                <a:r>
                  <a:rPr lang="cs-CZ" sz="2200" dirty="0"/>
                  <a:t>Rust: disjunktní sjednocení množin hodnot</a:t>
                </a:r>
              </a:p>
              <a:p>
                <a:pPr lvl="1"/>
                <a:r>
                  <a:rPr lang="cs-CZ" sz="2000" dirty="0"/>
                  <a:t>Běžné sjednocení: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</a:rPr>
                          <m:t>1, 2, 5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2, 10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={1, 2, 5, 10}</m:t>
                    </m:r>
                  </m:oMath>
                </a14:m>
                <a:endParaRPr lang="cs-CZ" sz="2000" dirty="0"/>
              </a:p>
              <a:p>
                <a:pPr lvl="1"/>
                <a:r>
                  <a:rPr lang="cs-CZ" sz="2000" dirty="0"/>
                  <a:t>Disjunktní sjednocení: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</a:rPr>
                          <m:t>1, 2, 5</m:t>
                        </m:r>
                      </m:e>
                    </m:d>
                    <m:r>
                      <a:rPr lang="cs-CZ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⊔</m:t>
                    </m:r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2, 10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cs-CZ" sz="2000" dirty="0"/>
                  <a:t> </a:t>
                </a:r>
              </a:p>
              <a:p>
                <a:r>
                  <a:rPr lang="cs-CZ" sz="2200" dirty="0"/>
                  <a:t>Každá varianta </a:t>
                </a:r>
                <a:r>
                  <a:rPr lang="cs-CZ" sz="2200" dirty="0" err="1"/>
                  <a:t>enumu</a:t>
                </a:r>
                <a:r>
                  <a:rPr lang="cs-CZ" sz="2200" dirty="0"/>
                  <a:t> dokáže obsahovat další data</a:t>
                </a:r>
              </a:p>
              <a:p>
                <a:r>
                  <a:rPr lang="cs-CZ" sz="2200" dirty="0"/>
                  <a:t>Rozsáhlé využití při zacházení s chybami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78074-DBD7-5D46-2FE2-5F5EBCCDE4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79" y="2706624"/>
                <a:ext cx="7328263" cy="3483864"/>
              </a:xfrm>
              <a:blipFill>
                <a:blip r:embed="rId4"/>
                <a:stretch>
                  <a:fillRect l="-915" t="-2098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BE57D732-8A3D-41DB-F70E-E13CE98B07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" t="9905" r="56040" b="2300"/>
          <a:stretch>
            <a:fillRect/>
          </a:stretch>
        </p:blipFill>
        <p:spPr>
          <a:xfrm>
            <a:off x="8633679" y="329183"/>
            <a:ext cx="2474537" cy="34299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761382-BF14-2CEB-D414-A505672C3A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" t="12605" r="34817" b="2986"/>
          <a:stretch>
            <a:fillRect/>
          </a:stretch>
        </p:blipFill>
        <p:spPr>
          <a:xfrm>
            <a:off x="8368600" y="4353511"/>
            <a:ext cx="3420093" cy="183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4126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54250-EC80-B686-0879-9FC018462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Vlastnictví a půjčování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F5ACF-B009-EEA3-F009-17084C1AB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27674"/>
          </a:xfrm>
        </p:spPr>
        <p:txBody>
          <a:bodyPr>
            <a:normAutofit/>
          </a:bodyPr>
          <a:lstStyle/>
          <a:p>
            <a:r>
              <a:rPr lang="cs-CZ" dirty="0"/>
              <a:t>Každá hodnota má jediného vlastníka</a:t>
            </a:r>
          </a:p>
          <a:p>
            <a:pPr lvl="1"/>
            <a:r>
              <a:rPr lang="cs-CZ" dirty="0"/>
              <a:t>Proměnná je přístupná pouze pro jejího vlastníka</a:t>
            </a:r>
          </a:p>
          <a:p>
            <a:pPr lvl="1"/>
            <a:r>
              <a:rPr lang="cs-CZ" dirty="0"/>
              <a:t>Přiřazení do jiné proměnné nebo parametru funkce předá vlastnictví</a:t>
            </a:r>
          </a:p>
          <a:p>
            <a:r>
              <a:rPr lang="cs-CZ" dirty="0"/>
              <a:t>Proměnné jsou ve výchozím stavu neměnné – klíčové slovo </a:t>
            </a:r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mut</a:t>
            </a:r>
            <a:r>
              <a:rPr lang="cs-CZ" dirty="0"/>
              <a:t> </a:t>
            </a:r>
          </a:p>
          <a:p>
            <a:r>
              <a:rPr lang="cs-CZ" dirty="0"/>
              <a:t>Reference = ukazatele</a:t>
            </a:r>
          </a:p>
          <a:p>
            <a:pPr lvl="1"/>
            <a:r>
              <a:rPr lang="cs-CZ" dirty="0"/>
              <a:t>„Propůjčují“ danou hodnotu někomu jinému (nejčastěji funkci)</a:t>
            </a:r>
          </a:p>
          <a:p>
            <a:pPr lvl="1"/>
            <a:r>
              <a:rPr lang="cs-CZ" dirty="0"/>
              <a:t>Nikdy nesmí mít delší životnost než původní hodnota</a:t>
            </a:r>
          </a:p>
          <a:p>
            <a:pPr lvl="1"/>
            <a:r>
              <a:rPr lang="cs-CZ" dirty="0"/>
              <a:t>1 měnitelná reference, nebo nekonečno neměnných referencí</a:t>
            </a:r>
          </a:p>
          <a:p>
            <a:r>
              <a:rPr lang="cs-CZ" dirty="0"/>
              <a:t>Při skončení životnosti automaticky zavolán Drop</a:t>
            </a:r>
          </a:p>
          <a:p>
            <a:r>
              <a:rPr lang="cs-CZ" dirty="0"/>
              <a:t>Surové ukazatele přenáší zodpovědnost na programátora</a:t>
            </a:r>
          </a:p>
        </p:txBody>
      </p:sp>
    </p:spTree>
    <p:extLst>
      <p:ext uri="{BB962C8B-B14F-4D97-AF65-F5344CB8AC3E}">
        <p14:creationId xmlns:p14="http://schemas.microsoft.com/office/powerpoint/2010/main" val="3028556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E20D0D-91F3-3401-70D1-3692CC0CB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6BD78AD-DE34-6F3B-2EB1-21CEF2C4D2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5" y="2807208"/>
            <a:ext cx="5465065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„rys, vlastnost, příznak“</a:t>
            </a:r>
          </a:p>
          <a:p>
            <a:r>
              <a:rPr lang="cs-CZ" sz="2200" dirty="0"/>
              <a:t>Definují abstraktní chování datových typů</a:t>
            </a:r>
          </a:p>
          <a:p>
            <a:pPr lvl="1"/>
            <a:r>
              <a:rPr lang="cs-CZ" sz="2000" dirty="0"/>
              <a:t>Vlastnosti, metody (funkce na typy)</a:t>
            </a:r>
          </a:p>
          <a:p>
            <a:r>
              <a:rPr lang="cs-CZ" sz="2400" dirty="0"/>
              <a:t>Jeden </a:t>
            </a:r>
            <a:r>
              <a:rPr lang="cs-CZ" sz="2400" dirty="0" err="1"/>
              <a:t>trait</a:t>
            </a:r>
            <a:r>
              <a:rPr lang="cs-CZ" sz="2400" dirty="0"/>
              <a:t> může vyžadovat jiný </a:t>
            </a:r>
            <a:r>
              <a:rPr lang="cs-CZ" sz="2400" dirty="0" err="1"/>
              <a:t>trait</a:t>
            </a:r>
            <a:endParaRPr lang="cs-CZ" sz="2400" dirty="0"/>
          </a:p>
          <a:p>
            <a:r>
              <a:rPr lang="cs-CZ" sz="2200" dirty="0"/>
              <a:t>Funkce „univerzální“ přes různé typy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omezují generické parametry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741EA8-998F-82FA-FF60-505A4104C9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" t="2798" r="3700" b="1683"/>
          <a:stretch>
            <a:fillRect/>
          </a:stretch>
        </p:blipFill>
        <p:spPr>
          <a:xfrm>
            <a:off x="6655622" y="640080"/>
            <a:ext cx="4905446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07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C53ACE-5A18-0223-F078-F212AF8D0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AF63F9-96E4-CAE6-8E27-BAD90F2D3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 2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D05A3046-89B3-C287-04D7-C746C39208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201392" y="1043156"/>
            <a:ext cx="6362250" cy="477168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A44BED2-120E-0B7F-D74E-A629CFE663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4570456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Přenositelné knihovny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poskytují jednotné rozhraní pro různé </a:t>
            </a:r>
            <a:r>
              <a:rPr lang="cs-CZ" sz="2000" dirty="0" err="1"/>
              <a:t>backendy</a:t>
            </a:r>
            <a:endParaRPr lang="cs-CZ" sz="2000" dirty="0"/>
          </a:p>
          <a:p>
            <a:pPr lvl="1"/>
            <a:r>
              <a:rPr lang="cs-CZ" sz="2000" dirty="0"/>
              <a:t>Knihovny pak mohou být psány oproti těmto rozhraním namísto konkrétních implementací</a:t>
            </a:r>
            <a:endParaRPr lang="cs-CZ" sz="2200" dirty="0"/>
          </a:p>
          <a:p>
            <a:r>
              <a:rPr lang="cs-CZ" sz="2200" dirty="0"/>
              <a:t>Příklad: </a:t>
            </a:r>
            <a:r>
              <a:rPr lang="cs-CZ" sz="2200" dirty="0" err="1">
                <a:highlight>
                  <a:srgbClr val="C0C0C0"/>
                </a:highlight>
                <a:latin typeface="Consolas" panose="020B0609020204030204" pitchFamily="49" charset="0"/>
              </a:rPr>
              <a:t>embedded</a:t>
            </a:r>
            <a:r>
              <a:rPr lang="cs-CZ" sz="2200" dirty="0">
                <a:highlight>
                  <a:srgbClr val="C0C0C0"/>
                </a:highlight>
                <a:latin typeface="Consolas" panose="020B0609020204030204" pitchFamily="49" charset="0"/>
              </a:rPr>
              <a:t>-hal</a:t>
            </a:r>
            <a:r>
              <a:rPr lang="cs-CZ" sz="2200" dirty="0"/>
              <a:t> (různé mikrořadiče, jedno rozhraní)</a:t>
            </a:r>
          </a:p>
        </p:txBody>
      </p:sp>
    </p:spTree>
    <p:extLst>
      <p:ext uri="{BB962C8B-B14F-4D97-AF65-F5344CB8AC3E}">
        <p14:creationId xmlns:p14="http://schemas.microsoft.com/office/powerpoint/2010/main" val="383589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7E7AA4-EFEC-4617-E1DF-3E0BA4706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Traity</a:t>
            </a:r>
            <a:r>
              <a:rPr lang="cs-CZ" dirty="0"/>
              <a:t> 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717209-8749-396C-9CE4-92D63F733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Speciální, interní </a:t>
            </a:r>
            <a:r>
              <a:rPr lang="cs-CZ" dirty="0" err="1"/>
              <a:t>traity</a:t>
            </a:r>
            <a:endParaRPr lang="cs-CZ" dirty="0"/>
          </a:p>
          <a:p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Clone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Copy</a:t>
            </a:r>
            <a:r>
              <a:rPr lang="cs-CZ" dirty="0"/>
              <a:t> – kopírování hodnot</a:t>
            </a:r>
          </a:p>
          <a:p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Drop</a:t>
            </a:r>
            <a:r>
              <a:rPr lang="cs-CZ" dirty="0"/>
              <a:t> – zničení hodnot</a:t>
            </a:r>
          </a:p>
          <a:p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Default</a:t>
            </a:r>
            <a:r>
              <a:rPr lang="cs-CZ" dirty="0"/>
              <a:t> – výchozí hodnota</a:t>
            </a:r>
          </a:p>
          <a:p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PartialEq</a:t>
            </a:r>
            <a:r>
              <a:rPr lang="cs-CZ" dirty="0"/>
              <a:t> a </a:t>
            </a:r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Eq</a:t>
            </a:r>
            <a:r>
              <a:rPr lang="cs-CZ" dirty="0"/>
              <a:t> – operátor rovnosti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==</a:t>
            </a:r>
            <a:r>
              <a:rPr lang="cs-CZ" dirty="0"/>
              <a:t> </a:t>
            </a:r>
          </a:p>
          <a:p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PartialOrd</a:t>
            </a:r>
            <a:r>
              <a:rPr lang="cs-CZ" dirty="0"/>
              <a:t> a </a:t>
            </a:r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Ord</a:t>
            </a:r>
            <a:r>
              <a:rPr lang="cs-CZ" dirty="0"/>
              <a:t> – operátory nerovnosti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&lt;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&lt;=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&gt;</a:t>
            </a:r>
            <a:r>
              <a:rPr lang="cs-CZ" dirty="0"/>
              <a:t> a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&gt;=</a:t>
            </a:r>
            <a:r>
              <a:rPr lang="cs-CZ" dirty="0"/>
              <a:t> </a:t>
            </a:r>
          </a:p>
          <a:p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Debug</a:t>
            </a:r>
            <a:r>
              <a:rPr lang="cs-CZ" dirty="0"/>
              <a:t> a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Display</a:t>
            </a:r>
            <a:r>
              <a:rPr lang="cs-CZ" dirty="0"/>
              <a:t> – formátování na text</a:t>
            </a:r>
          </a:p>
          <a:p>
            <a:r>
              <a:rPr lang="cs-CZ" dirty="0"/>
              <a:t>Makro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#[derive(…)]</a:t>
            </a:r>
            <a:r>
              <a:rPr lang="cs-CZ" dirty="0"/>
              <a:t> – automatická implementace</a:t>
            </a:r>
          </a:p>
        </p:txBody>
      </p:sp>
    </p:spTree>
    <p:extLst>
      <p:ext uri="{BB962C8B-B14F-4D97-AF65-F5344CB8AC3E}">
        <p14:creationId xmlns:p14="http://schemas.microsoft.com/office/powerpoint/2010/main" val="5940484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9CC341-C25B-F877-D447-AF84B4A23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Průběh programu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AB956-920E-CF3C-3578-10FABD0AC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cs-CZ" dirty="0"/>
              <a:t>Nejsložitější zařídí HAL a HW</a:t>
            </a:r>
          </a:p>
          <a:p>
            <a:r>
              <a:rPr lang="cs-CZ" dirty="0"/>
              <a:t>Inicializace – hodiny, periferie, datové struktury</a:t>
            </a:r>
          </a:p>
          <a:p>
            <a:r>
              <a:rPr lang="cs-CZ" dirty="0"/>
              <a:t>Nekonečná smyčka</a:t>
            </a:r>
          </a:p>
          <a:p>
            <a:pPr lvl="1"/>
            <a:r>
              <a:rPr lang="cs-CZ" dirty="0"/>
              <a:t>Enter, </a:t>
            </a:r>
            <a:r>
              <a:rPr lang="cs-CZ" dirty="0" err="1"/>
              <a:t>Backspace</a:t>
            </a:r>
            <a:r>
              <a:rPr lang="cs-CZ" dirty="0"/>
              <a:t>, tečka, N, 0-9, +-*/, Ctrl-R, Ctrl-T</a:t>
            </a:r>
          </a:p>
          <a:p>
            <a:r>
              <a:rPr lang="cs-CZ" dirty="0"/>
              <a:t>Aplikační kód rozdělen do modulů</a:t>
            </a:r>
          </a:p>
          <a:p>
            <a:pPr lvl="1"/>
            <a:r>
              <a:rPr lang="cs-CZ" dirty="0" err="1"/>
              <a:t>stack</a:t>
            </a:r>
            <a:r>
              <a:rPr lang="cs-CZ" dirty="0"/>
              <a:t>, </a:t>
            </a:r>
            <a:r>
              <a:rPr lang="cs-CZ" dirty="0" err="1"/>
              <a:t>textbox</a:t>
            </a:r>
            <a:r>
              <a:rPr lang="cs-CZ" dirty="0"/>
              <a:t>, </a:t>
            </a:r>
            <a:r>
              <a:rPr lang="cs-CZ" dirty="0" err="1"/>
              <a:t>decfix</a:t>
            </a:r>
            <a:r>
              <a:rPr lang="cs-CZ" dirty="0"/>
              <a:t>, </a:t>
            </a:r>
            <a:r>
              <a:rPr lang="cs-CZ" dirty="0" err="1"/>
              <a:t>custom_error</a:t>
            </a:r>
            <a:r>
              <a:rPr lang="cs-CZ" dirty="0"/>
              <a:t>, </a:t>
            </a:r>
            <a:r>
              <a:rPr lang="cs-CZ" dirty="0" err="1"/>
              <a:t>command_mode</a:t>
            </a:r>
            <a:endParaRPr lang="cs-CZ" dirty="0"/>
          </a:p>
          <a:p>
            <a:pPr lvl="1"/>
            <a:endParaRPr lang="cs-CZ" dirty="0"/>
          </a:p>
          <a:p>
            <a:endParaRPr lang="cs-CZ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7DF11-18E6-81EB-899D-30D875558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217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3CDE-8F32-A485-10B4-FA031EFC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Desetinná čísla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15C0BB-C97C-4C65-9E4F-8751068C4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cs-CZ" dirty="0"/>
                  <a:t>Binární plovoucí desetinná čárka není přesná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cs-CZ" i="1" dirty="0" smtClean="0">
                        <a:latin typeface="Cambria Math" panose="02040503050406030204" pitchFamily="18" charset="0"/>
                      </a:rPr>
                      <m:t>0.1+0.2=0.30000000000000004</m:t>
                    </m:r>
                  </m:oMath>
                </a14:m>
                <a:endParaRPr lang="cs-CZ" dirty="0"/>
              </a:p>
              <a:p>
                <a:r>
                  <a:rPr lang="cs-CZ" dirty="0"/>
                  <a:t>„Už vím! Prostě si to udělám sám! Jak těžké to může být?“</a:t>
                </a:r>
              </a:p>
              <a:p>
                <a14:m>
                  <m:oMath xmlns:m="http://schemas.openxmlformats.org/officeDocument/2006/math">
                    <m:r>
                      <a:rPr lang="cs-CZ" b="0" i="1" smtClean="0">
                        <a:latin typeface="Cambria Math" panose="02040503050406030204" pitchFamily="18" charset="0"/>
                      </a:rPr>
                      <m:t>𝑚𝑒𝑎𝑛𝑖𝑛𝑔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𝑣𝑎𝑙𝑢𝑒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)×10^(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𝑒𝑥𝑝𝑜𝑛𝑒𝑛𝑡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cs-CZ" dirty="0"/>
              </a:p>
              <a:p>
                <a:r>
                  <a:rPr lang="cs-CZ" dirty="0"/>
                  <a:t>Násobení a dělení vyžaduje škálování</a:t>
                </a:r>
              </a:p>
              <a:p>
                <a:r>
                  <a:rPr lang="cs-CZ" dirty="0"/>
                  <a:t>Text → číslo: </a:t>
                </a:r>
                <a:r>
                  <a:rPr lang="cs-CZ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parse_str</a:t>
                </a:r>
                <a:r>
                  <a:rPr lang="cs-CZ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()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Číslo → text: </a:t>
                </a:r>
                <a:r>
                  <a:rPr lang="cs-CZ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impl</a:t>
                </a:r>
                <a:r>
                  <a:rPr lang="cs-CZ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Display</a:t>
                </a:r>
                <a:r>
                  <a:rPr lang="cs-CZ" dirty="0"/>
                  <a:t> </a:t>
                </a:r>
              </a:p>
              <a:p>
                <a:endParaRPr lang="cs-CZ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15C0BB-C97C-4C65-9E4F-8751068C4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032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F6631-18AD-EAD5-E1FE-131DFF68E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Command</a:t>
            </a:r>
            <a:r>
              <a:rPr lang="cs-CZ" dirty="0"/>
              <a:t> mode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91F17-FCAC-ABC4-0C75-E29C1B20E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= příkazový mód</a:t>
            </a:r>
          </a:p>
          <a:p>
            <a:r>
              <a:rPr lang="cs-CZ" dirty="0"/>
              <a:t>Ovládání mimo matematické operace</a:t>
            </a:r>
          </a:p>
          <a:p>
            <a:r>
              <a:rPr lang="cs-CZ" dirty="0"/>
              <a:t>Textové pole pro (textové) příkazy namísto čísel</a:t>
            </a:r>
          </a:p>
          <a:p>
            <a:pPr marL="0" indent="0">
              <a:buNone/>
            </a:pPr>
            <a:endParaRPr lang="cs-CZ" dirty="0"/>
          </a:p>
          <a:p>
            <a:r>
              <a:rPr lang="cs-CZ" dirty="0"/>
              <a:t>Ladicí příkazy</a:t>
            </a:r>
          </a:p>
          <a:p>
            <a:r>
              <a:rPr lang="cs-CZ" dirty="0"/>
              <a:t>Jas displeje</a:t>
            </a:r>
          </a:p>
          <a:p>
            <a:r>
              <a:rPr lang="cs-CZ" dirty="0"/>
              <a:t>Zásobník</a:t>
            </a:r>
          </a:p>
        </p:txBody>
      </p:sp>
    </p:spTree>
    <p:extLst>
      <p:ext uri="{BB962C8B-B14F-4D97-AF65-F5344CB8AC3E}">
        <p14:creationId xmlns:p14="http://schemas.microsoft.com/office/powerpoint/2010/main" val="40654371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5CEB5-567A-56FC-A79D-8EBBE314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Ovládání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313B4-1167-5BFE-4914-AF8C4B665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93242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5F07-92E8-AF88-403B-50025CB8E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Výsledek v akci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79220-6287-5881-E828-1F00E207B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8455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E017E-CF88-884F-B871-85FFD3A79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Osobní shrnutí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97471-F608-2CF7-AC14-186A540FD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059705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2492</TotalTime>
  <Words>3175</Words>
  <Application>Microsoft Office PowerPoint</Application>
  <PresentationFormat>Širokoúhlá obrazovka</PresentationFormat>
  <Paragraphs>291</Paragraphs>
  <Slides>17</Slides>
  <Notes>13</Notes>
  <HiddenSlides>3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Consolas</vt:lpstr>
      <vt:lpstr>Motiv Office</vt:lpstr>
      <vt:lpstr>Kalkulačka v postfixové notaci na čipu RP2040</vt:lpstr>
      <vt:lpstr>Výběr tématu</vt:lpstr>
      <vt:lpstr>Postfixová notace</vt:lpstr>
      <vt:lpstr>Prezentace aplikace PowerPoint</vt:lpstr>
      <vt:lpstr>Prezentace aplikace PowerPoint</vt:lpstr>
      <vt:lpstr>Rust</vt:lpstr>
      <vt:lpstr>Enum /ˈinʌm/</vt:lpstr>
      <vt:lpstr>Vlastnictví a půjčování</vt:lpstr>
      <vt:lpstr>Traity</vt:lpstr>
      <vt:lpstr>Traity 2</vt:lpstr>
      <vt:lpstr>Traity 3</vt:lpstr>
      <vt:lpstr>Průběh programu</vt:lpstr>
      <vt:lpstr>Desetinná čísla</vt:lpstr>
      <vt:lpstr>Command mode</vt:lpstr>
      <vt:lpstr>Ovládání</vt:lpstr>
      <vt:lpstr>Výsledek v akci</vt:lpstr>
      <vt:lpstr>Osobní shrnutí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Ondřej Běhal</dc:creator>
  <cp:lastModifiedBy>Ondřej Běhal</cp:lastModifiedBy>
  <cp:revision>279</cp:revision>
  <dcterms:created xsi:type="dcterms:W3CDTF">2026-03-24T10:48:56Z</dcterms:created>
  <dcterms:modified xsi:type="dcterms:W3CDTF">2026-04-07T10:34:34Z</dcterms:modified>
</cp:coreProperties>
</file>