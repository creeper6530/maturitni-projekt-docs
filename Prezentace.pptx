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6449AC5C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9" r:id="rId3"/>
    <p:sldId id="257" r:id="rId4"/>
    <p:sldId id="261" r:id="rId5"/>
    <p:sldId id="263" r:id="rId6"/>
    <p:sldId id="258" r:id="rId7"/>
    <p:sldId id="271" r:id="rId8"/>
    <p:sldId id="270" r:id="rId9"/>
    <p:sldId id="262" r:id="rId10"/>
    <p:sldId id="264" r:id="rId11"/>
    <p:sldId id="272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27075E-E1E5-2701-A4E4-E7D417A591B4}" name="Ondřej Běhal" initials="OB" userId="S::ondrej.behal@ms.krestanskegymnazium.cz::bb15c10f-1ace-45d6-9a30-85afa41deab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6259" autoAdjust="0"/>
  </p:normalViewPr>
  <p:slideViewPr>
    <p:cSldViewPr snapToGrid="0">
      <p:cViewPr varScale="1">
        <p:scale>
          <a:sx n="81" d="100"/>
          <a:sy n="81" d="100"/>
        </p:scale>
        <p:origin x="1632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2112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2_6449AC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F0D791-3940-4B34-8101-6CFD4C392C6D}" authorId="{6027075E-E1E5-2701-A4E4-E7D417A591B4}" created="2026-03-29T14:51:12.7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347" len="48">
        <ac:context len="396" hash="2375909780"/>
      </ac:txMk>
    </ac:txMkLst>
    <p188:pos x="5847608" y="3933907"/>
    <p188:txBody>
      <a:bodyPr/>
      <a:lstStyle/>
      <a:p>
        <a:r>
          <a:rPr lang="cs-CZ"/>
          <a:t>Možná vynechat</a:t>
        </a:r>
      </a:p>
    </p188:txBody>
  </p188:cm>
  <p188:cm id="{BF9AEFD2-8152-42FF-8785-86DD9765A672}" authorId="{6027075E-E1E5-2701-A4E4-E7D417A591B4}" created="2026-03-29T15:20:32.81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15" len="9">
        <ac:context len="396" hash="2375909780"/>
      </ac:txMk>
    </ac:txMkLst>
    <p188:pos x="4196938" y="323809"/>
    <p188:txBody>
      <a:bodyPr/>
      <a:lstStyle/>
      <a:p>
        <a:r>
          <a:rPr lang="cs-CZ"/>
          <a:t>Technicky vzato víceúčelový, ale když prodáváš auto, nechlubíš se tím, že tě umí odvézt z bodu A do bodu B...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Jak Krteček k projektu přišel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15554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  <a:p>
            <a:endParaRPr lang="cs-CZ" dirty="0"/>
          </a:p>
          <a:p>
            <a:r>
              <a:rPr lang="cs-CZ" dirty="0"/>
              <a:t>Zdroj obrázku: https://calculator-museum.nl/?hp-12c25thanniversary ; https://calculator-museum.nl/calculators/pictures/hp-12c25thanniversary.png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Rust.</a:t>
            </a:r>
          </a:p>
          <a:p>
            <a:endParaRPr lang="cs-CZ" dirty="0"/>
          </a:p>
          <a:p>
            <a:r>
              <a:rPr lang="cs-CZ" dirty="0"/>
              <a:t>Rust je moderní (2015) systémový programovací jazyk. Sám se označuje jako „bleskurychlý“, s „neohroženou souběžností“, slibuje „dokonalou paměťovou bezpečnost“ a další vznešené vlastnosti.</a:t>
            </a:r>
          </a:p>
          <a:p>
            <a:r>
              <a:rPr lang="cs-CZ" dirty="0"/>
              <a:t>Pochopitelně to </a:t>
            </a:r>
          </a:p>
          <a:p>
            <a:r>
              <a:rPr lang="cs-CZ" dirty="0"/>
              <a:t>&lt;evangelizující fanoušci&gt;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7162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 je moderní systémový programovací jazyk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 – sice na absolutní škále vysokoúrovňový, ale vzhledem k jiným jazykům stále blíže k hardwaru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Výkonný – politika abstrakce bez dopadu na výkon ("manuálně bys to nenapsal lépe")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Díky odstupu času byl schopen vidět, co v jiných jazycích nefunguje a co udělat jinak / lépe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Do samého jádra jazyka je integrován statický analyzátor nazývaný „</a:t>
            </a:r>
            <a:r>
              <a:rPr lang="cs-CZ" dirty="0" err="1"/>
              <a:t>borrow</a:t>
            </a:r>
            <a:r>
              <a:rPr lang="cs-CZ" dirty="0"/>
              <a:t> checker“, který implementuje koncept vlastnictví a půjčování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Vlastnictví a půjčování popsán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1" dirty="0"/>
              <a:t>Již během kompilace</a:t>
            </a:r>
            <a:r>
              <a:rPr lang="cs-CZ" i="0" dirty="0"/>
              <a:t> zajišťuje platnost ukazatelů a bezpečné přístupy k paměti bez dopadů na výkon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    Oproti tomu „sběr odpadu“ (</a:t>
            </a:r>
            <a:r>
              <a:rPr lang="cs-CZ" i="0" dirty="0" err="1"/>
              <a:t>GC</a:t>
            </a:r>
            <a:r>
              <a:rPr lang="cs-CZ" i="0" dirty="0"/>
              <a:t>) je nedeterministický a obecně škodí výkonu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„Pokud se to zkompiluje, tak to poběží.“ / „Pokládá právě tolik (pomyslných) dopravních kuželů / bariér, aby člověku zabránil brát zkratky.“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i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Jednoduchá, jednotná a explicitní práce s chybami, kdy chyby jsou reprezentovány jednoduše jako hodnoty pomocí algebraických datových typů (</a:t>
            </a:r>
            <a:r>
              <a:rPr lang="cs-CZ" dirty="0" err="1"/>
              <a:t>enumů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Enum</a:t>
            </a:r>
            <a:r>
              <a:rPr lang="cs-CZ" dirty="0"/>
              <a:t> je disjunktní sjednocení – popsáno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Žádné zapomenuté kontroly nulového ukazatele; typový systém jasně stanovuje, zda je chyba možná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Nemáme 20 různých vzájemně nekompatibilních způsobů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Generické programování =&gt; jeden kód dokáže pracovat s různými datovými typy, omezuje zbytečnou duplikaci kódu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Systém </a:t>
            </a:r>
            <a:r>
              <a:rPr lang="cs-CZ" dirty="0" err="1"/>
              <a:t>traitů</a:t>
            </a:r>
            <a:r>
              <a:rPr lang="cs-CZ" dirty="0"/>
              <a:t> popsán dále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Jednotný a kvalitní systém pro kompilaci </a:t>
            </a:r>
            <a:r>
              <a:rPr lang="cs-CZ" dirty="0" err="1"/>
              <a:t>Cargo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Který zároveň figuruje jako správce balíčků (program spravující knihovny, na kterých náš projekt závisí, jejich verze, a který je dokáže automaticky stáhnout z centrálního úložiště)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Velmi dobře čitelné chybové hlášky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Od roku 2016 je každoročně „nejmilovanějším“ jazykem podle průzkumů společnosti </a:t>
            </a:r>
            <a:r>
              <a:rPr lang="cs-CZ" dirty="0" err="1"/>
              <a:t>Stack</a:t>
            </a:r>
            <a:r>
              <a:rPr lang="cs-CZ" dirty="0"/>
              <a:t> </a:t>
            </a:r>
            <a:r>
              <a:rPr lang="cs-CZ" dirty="0" err="1"/>
              <a:t>Overflow</a:t>
            </a:r>
            <a:r>
              <a:rPr lang="cs-CZ" dirty="0"/>
              <a:t>, tzn. největší procento respondentů, kteří ho v nedávné minulosti používali, by ho rádi používali nadále.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r>
              <a:rPr lang="cs-CZ" dirty="0"/>
              <a:t>Zdroj obrázku: https://rust-lang.org/static/images/rust-logo-blk.svg / https://rustfoundation.org/policy/rust-trademark-policy/#do-not-require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5636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err="1"/>
              <a:t>Enum</a:t>
            </a:r>
            <a:r>
              <a:rPr lang="cs-CZ" dirty="0"/>
              <a:t>, česky také „výčtový typ“, je datový typ, ve kterém programátor specifikuje konečnou množinu hodnot, kterých smí nabývat.</a:t>
            </a:r>
          </a:p>
          <a:p>
            <a:r>
              <a:rPr lang="cs-CZ" dirty="0"/>
              <a:t>Každé hodnotě je běžně přiřazen textový identifikátor (a interní číselná reprezentace), který lze dále používat v kódu.</a:t>
            </a:r>
          </a:p>
          <a:p>
            <a:r>
              <a:rPr lang="cs-CZ" dirty="0"/>
              <a:t>Na vrchním obrázku je příklad definice takovéhoto výčtu v jazyce C.</a:t>
            </a:r>
          </a:p>
          <a:p>
            <a:endParaRPr lang="cs-CZ" dirty="0"/>
          </a:p>
          <a:p>
            <a:r>
              <a:rPr lang="cs-CZ" dirty="0"/>
              <a:t>V jazyce Rust ale dokáží </a:t>
            </a:r>
            <a:r>
              <a:rPr lang="cs-CZ" dirty="0" err="1"/>
              <a:t>enumy</a:t>
            </a:r>
            <a:r>
              <a:rPr lang="cs-CZ" dirty="0"/>
              <a:t> mnohem více: jedná se o disjunktní sjednocení. To znamená, že je tvořen několika množinami hodnot,</a:t>
            </a:r>
          </a:p>
          <a:p>
            <a:r>
              <a:rPr lang="cs-CZ" dirty="0"/>
              <a:t>a dokáže nabývat jakékoli z nich, ale rozlišuje stejné hodnoty z jiných množin.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příkladu zde je vidět, že když tyto dvě množiny hodnot obsahují hodnotu 2, tak běžné sjednocení by ji nerozlišovalo,</a:t>
            </a:r>
            <a:br>
              <a:rPr lang="cs-CZ" dirty="0"/>
            </a:br>
            <a:r>
              <a:rPr lang="cs-CZ" dirty="0"/>
              <a:t>ale disjunktní sjednocení rozlišuje mezi 2 z množiny A </a:t>
            </a:r>
            <a:r>
              <a:rPr lang="cs-CZ" dirty="0" err="1"/>
              <a:t>a</a:t>
            </a:r>
            <a:r>
              <a:rPr lang="cs-CZ" dirty="0"/>
              <a:t> 2 z množiny B.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praxi je to využíváno tak, že každá varianta </a:t>
            </a:r>
            <a:r>
              <a:rPr lang="cs-CZ" dirty="0" err="1"/>
              <a:t>enumu</a:t>
            </a:r>
            <a:r>
              <a:rPr lang="cs-CZ" dirty="0"/>
              <a:t> se skládá nejen z identifikátoru,</a:t>
            </a:r>
            <a:br>
              <a:rPr lang="cs-CZ" dirty="0"/>
            </a:br>
            <a:r>
              <a:rPr lang="cs-CZ" dirty="0"/>
              <a:t>ale volitelně i z jednoho nebo více datového typů, které pak daná varianta bude obsahovat.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spodním obrázku je příklad definice takového </a:t>
            </a:r>
            <a:r>
              <a:rPr lang="cs-CZ" dirty="0" err="1"/>
              <a:t>enumu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Rust hojně využívá </a:t>
            </a:r>
            <a:r>
              <a:rPr lang="cs-CZ" dirty="0" err="1"/>
              <a:t>enumy</a:t>
            </a:r>
            <a:r>
              <a:rPr lang="cs-CZ" dirty="0"/>
              <a:t> pro práci s chybami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Data, která jsou navrácena při úspěchu, jsou obsažena ve variantě Ok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 navrácena při chybě (označující nejčastěji druh chyby, ke které došlo) jsou obsažena ve variantě </a:t>
            </a:r>
            <a:r>
              <a:rPr lang="cs-CZ" dirty="0" err="1"/>
              <a:t>Err</a:t>
            </a: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Zdroje obrázků: vlastní tvorba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96827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Základní „teze“ </a:t>
            </a:r>
            <a:r>
              <a:rPr lang="cs-CZ" dirty="0" err="1"/>
              <a:t>borrow</a:t>
            </a:r>
            <a:r>
              <a:rPr lang="cs-CZ" dirty="0"/>
              <a:t> </a:t>
            </a:r>
            <a:r>
              <a:rPr lang="cs-CZ" dirty="0" err="1"/>
              <a:t>checkeru</a:t>
            </a:r>
            <a:r>
              <a:rPr lang="cs-CZ" dirty="0"/>
              <a:t> jsou následující:</a:t>
            </a:r>
          </a:p>
          <a:p>
            <a:endParaRPr lang="cs-CZ" dirty="0"/>
          </a:p>
          <a:p>
            <a:r>
              <a:rPr lang="cs-CZ" dirty="0"/>
              <a:t>Každá hodnota má svého jediného vlastníka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Vlastníkem může být proměnná deklarovaná v určitém bloku kódu, nebo nějaký objekt (struktura nebo </a:t>
            </a:r>
            <a:r>
              <a:rPr lang="cs-CZ" dirty="0" err="1"/>
              <a:t>enum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 proměnné dokáže přistupovat pouze její vlastník (nebo blok kódu uvnitř vlastníka)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 výchozím stavu, pokud přiřadíme proměnnou do jiné proměnné, nebo ji předáme jako parametr nějaké funkci,</a:t>
            </a:r>
            <a:br>
              <a:rPr lang="cs-CZ" dirty="0"/>
            </a:br>
            <a:r>
              <a:rPr lang="cs-CZ" dirty="0"/>
              <a:t>předáme vlastnictví této nové proměnné nebo bloku kódu tvořící kód funkce, tzv. ji přesuneme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Až na později popsanou výjimku, </a:t>
            </a:r>
            <a:r>
              <a:rPr lang="cs-CZ" dirty="0" err="1"/>
              <a:t>trait</a:t>
            </a:r>
            <a:r>
              <a:rPr lang="cs-CZ" dirty="0"/>
              <a:t> Copy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Ve výchozím stavu jsou všechny proměnné a reference neměnné, je třeba je explicitně označit jako měnitelné klíčovým slovem </a:t>
            </a:r>
            <a:r>
              <a:rPr lang="cs-CZ" dirty="0" err="1"/>
              <a:t>mut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jiných jazycích jako C a C++ naopak jsou všechny proměnné měnitelné, pokud nejsou označeny jinak, což m.j. ztěžuje optimalizace kompilátoru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Reference jsou ukazatele na proměnné – hodnoty ukládající adresu v paměti, kde se ukazovaná proměnná nachází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paradigmatu vlastnictví reference „propůjčují“ vlastnictví, povolují vlastníkovi proměnné dočasně přistupovat k proměnné,</a:t>
            </a:r>
            <a:br>
              <a:rPr lang="cs-CZ" dirty="0"/>
            </a:br>
            <a:r>
              <a:rPr lang="cs-CZ" dirty="0"/>
              <a:t>ale vlastnictví zůstává stejné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</a:t>
            </a:r>
            <a:r>
              <a:rPr lang="cs-CZ" dirty="0" err="1"/>
              <a:t>Nejčatěji</a:t>
            </a:r>
            <a:r>
              <a:rPr lang="cs-CZ" dirty="0"/>
              <a:t> jsou propůjčovány funkcím, protože když předáme hodnotu funkci, která ji nám nevrátí, proměnná zanikne,</a:t>
            </a:r>
            <a:br>
              <a:rPr lang="cs-CZ" dirty="0"/>
            </a:br>
            <a:r>
              <a:rPr lang="cs-CZ" dirty="0"/>
              <a:t>    takže pokud předáme funkci jen referenci, tak s hodnotou může funkce pracovat, aniž by proměnná zanikla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Rovněž se dělí na měnitelné, které mohou měnit hodnotu ukazované proměnné, a neměnné, které mohou pouze číst hodnotu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Borrow</a:t>
            </a:r>
            <a:r>
              <a:rPr lang="cs-CZ" dirty="0"/>
              <a:t> checker zajišťuje, že reference vždy ukazují na platné místo v paměti, zejm. že: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Reference není tzv. nulovým ukazatelem, tedy že neukazuje doslova nikam, na žádnou hodnotu (reprezentováno adresou nula – 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Ukazovaná proměnná nezanikne po celou životnost reference, což </a:t>
            </a:r>
            <a:r>
              <a:rPr lang="cs-CZ" dirty="0" err="1"/>
              <a:t>borrow</a:t>
            </a:r>
            <a:r>
              <a:rPr lang="cs-CZ" dirty="0"/>
              <a:t> checker vynucuje pomocí sledování životností proměnných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 zájmu zabránění souběhu (konfliktnímu přístupu k proměnné) smí existovat naráz (z pohledu životností) buď nejvýše jedna měnitelná reference, nebo nekonečno neměnných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 skončení životnosti proměnné zavolá kompilátor automaticky její implementaci </a:t>
            </a:r>
            <a:r>
              <a:rPr lang="cs-CZ" dirty="0" err="1"/>
              <a:t>traitu</a:t>
            </a:r>
            <a:r>
              <a:rPr lang="cs-CZ" dirty="0"/>
              <a:t> Drop, pokud existuje,</a:t>
            </a:r>
            <a:br>
              <a:rPr lang="cs-CZ" dirty="0"/>
            </a:br>
            <a:r>
              <a:rPr lang="cs-CZ" dirty="0"/>
              <a:t>která „po sobě uklidí“, například uvolní alokovanou paměť.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Struktury a </a:t>
            </a:r>
            <a:r>
              <a:rPr lang="cs-CZ" dirty="0" err="1"/>
              <a:t>enumy</a:t>
            </a:r>
            <a:r>
              <a:rPr lang="cs-CZ" dirty="0"/>
              <a:t> nejdříve zavolají Drop samy na sobě, a pak na hodnotách v </a:t>
            </a:r>
            <a:r>
              <a:rPr lang="cs-CZ"/>
              <a:t>nich uložených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Pokud </a:t>
            </a:r>
            <a:r>
              <a:rPr lang="cs-CZ" dirty="0" err="1"/>
              <a:t>borrow</a:t>
            </a:r>
            <a:r>
              <a:rPr lang="cs-CZ" dirty="0"/>
              <a:t> checker není schopen zajistit, že jeho pravidla budou naplněna, je možné použít ještě tzv. surové ukazatele,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které samy o sobě neposkytují žádné garance a u kterých je za dodržování pravidel zodpovědný programátor.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Ztráta těchto garancí je však nebezpečná, protože nelze 100% prokázat, tudíž je možné přistupovat k hodnotám na adresách,</a:t>
            </a:r>
            <a:br>
              <a:rPr lang="cs-CZ" dirty="0"/>
            </a:br>
            <a:r>
              <a:rPr lang="cs-CZ" dirty="0"/>
              <a:t>na které surové ukazatele ukazují, pouze v speciálně označených blocích </a:t>
            </a:r>
            <a:r>
              <a:rPr lang="cs-CZ" dirty="0" err="1"/>
              <a:t>unsafe</a:t>
            </a:r>
            <a:r>
              <a:rPr lang="cs-CZ" dirty="0"/>
              <a:t>, které tak omezují možný rozsah,</a:t>
            </a:r>
            <a:br>
              <a:rPr lang="cs-CZ" dirty="0"/>
            </a:br>
            <a:r>
              <a:rPr lang="cs-CZ" dirty="0"/>
              <a:t>kde by se mohly dít nebezpečné operace, na nutné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617715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, česky „rysy“, „vlastnosti“ nebo „příznaky“, definují abstraktní chování datových typů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Implementace daného </a:t>
            </a:r>
            <a:r>
              <a:rPr lang="cs-CZ" dirty="0" err="1"/>
              <a:t>traitu</a:t>
            </a:r>
            <a:r>
              <a:rPr lang="cs-CZ" dirty="0"/>
              <a:t> garantuje, že daný typ má určité vlastnosti a implementuje určité metody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    (metody = funkce pracující s daty uvnitř daného typu, nejčastěji struktury, asociované s daným typem)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Chování je u všech typů implementujících daný </a:t>
            </a:r>
            <a:r>
              <a:rPr lang="cs-CZ" dirty="0" err="1"/>
              <a:t>trait</a:t>
            </a:r>
            <a:r>
              <a:rPr lang="cs-CZ" dirty="0"/>
              <a:t> sémanticky stejné, i když samotné implementace v kódu se mohou lišit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1: Funkce „univerzální“ (přesněji řečeno generické) přes různé typy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Některé operace na určitých typech prostě nedávají smysl: </a:t>
            </a:r>
            <a:r>
              <a:rPr lang="pt-BR" dirty="0"/>
              <a:t>nelze se doptávat na 5. prvek v</a:t>
            </a:r>
            <a:r>
              <a:rPr lang="cs-CZ" dirty="0"/>
              <a:t> </a:t>
            </a:r>
            <a:r>
              <a:rPr lang="cs-CZ" dirty="0" err="1"/>
              <a:t>booleanu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pomáhají omezovat generické parametry na pouze ty typy, které mají určité vlastnosti, které daná funkce vyžaduje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Příklad na obrázku: funkce nemůže přijmout zcela jakýkoli typ, ale pouze takový, který lze porovnávat (</a:t>
            </a:r>
            <a:r>
              <a:rPr lang="cs-CZ" dirty="0" err="1"/>
              <a:t>trait</a:t>
            </a:r>
            <a:r>
              <a:rPr lang="cs-CZ" dirty="0"/>
              <a:t> </a:t>
            </a:r>
            <a:r>
              <a:rPr lang="cs-CZ" dirty="0" err="1"/>
              <a:t>PartialOrd</a:t>
            </a:r>
            <a:r>
              <a:rPr lang="cs-CZ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r>
              <a:rPr lang="cs-CZ" dirty="0"/>
              <a:t>Zdroj obrázku: vlastní, pomocí https://carbon.now.sh/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53322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5223-D280-3EF6-1CA1-BC09051B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593B5-15A7-CBB4-FC12-BEFB26DB8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3F266-B512-1109-6F8B-B19BC4EE2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2: jednotné rozhraní pro knihovny (drivery atd.)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Některé knihovny (typicky ovladače v </a:t>
            </a:r>
            <a:r>
              <a:rPr lang="cs-CZ" dirty="0" err="1"/>
              <a:t>embedded</a:t>
            </a:r>
            <a:r>
              <a:rPr lang="cs-CZ" dirty="0"/>
              <a:t> sféře) potřebují být přenositelné přes mnoho různých </a:t>
            </a:r>
            <a:r>
              <a:rPr lang="cs-CZ" dirty="0" err="1"/>
              <a:t>backendů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Traity</a:t>
            </a:r>
            <a:r>
              <a:rPr lang="cs-CZ" dirty="0"/>
              <a:t> mohou být tímto „styčným bodem“, umožňujícím </a:t>
            </a:r>
            <a:r>
              <a:rPr lang="cs-CZ" dirty="0" err="1"/>
              <a:t>backendům</a:t>
            </a:r>
            <a:r>
              <a:rPr lang="cs-CZ" dirty="0"/>
              <a:t> abstrahovat své fungování do jednotných rozhraní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Knihovny pak mohou cílit na toto jednotné rozhraní a tak podporovat jakýkoli </a:t>
            </a:r>
            <a:r>
              <a:rPr lang="cs-CZ" dirty="0" err="1"/>
              <a:t>backend</a:t>
            </a:r>
            <a:r>
              <a:rPr lang="cs-CZ" dirty="0"/>
              <a:t>, který toto rozhraní implementuje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Například v našem projektu jsme použili knihovnu </a:t>
            </a:r>
            <a:r>
              <a:rPr lang="cs-CZ" dirty="0" err="1"/>
              <a:t>embedded</a:t>
            </a:r>
            <a:r>
              <a:rPr lang="cs-CZ" dirty="0"/>
              <a:t>-hal, která sama o sobě pouze poskytuje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Konkrétní HAL (vrstvy pro abstrakci hardwaru) pak implementují tyto </a:t>
            </a:r>
            <a:r>
              <a:rPr lang="cs-CZ" dirty="0" err="1"/>
              <a:t>traity</a:t>
            </a:r>
            <a:r>
              <a:rPr lang="cs-CZ" dirty="0"/>
              <a:t> na svých strukturách poskytujících přístup k hardwaru,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a ovladače pro periferie mohou psát své funkce generické přes tyto stejné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Každý ovladač je pak schopen běžet na každé HAL bez potíží.</a:t>
            </a:r>
          </a:p>
          <a:p>
            <a:endParaRPr lang="cs-CZ" dirty="0"/>
          </a:p>
          <a:p>
            <a:r>
              <a:rPr lang="cs-CZ" dirty="0"/>
              <a:t>Zdroj obrázku: </a:t>
            </a:r>
            <a:r>
              <a:rPr lang="cs-CZ" dirty="0" err="1"/>
              <a:t>Gemini</a:t>
            </a:r>
            <a:r>
              <a:rPr lang="cs-CZ" dirty="0"/>
              <a:t> 3.1 Pro (2.4.2026)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16A58-DEF8-805F-E932-8A08E9957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4475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449AC5C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F417-4380-1BB1-4BF1-4CB56BDC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Výběr tématu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B7F35-A90D-90D9-7179-FF8F2DAB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Aaa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05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Postfixová notace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= zpětná polská notace (</a:t>
                </a:r>
                <a:r>
                  <a:rPr lang="cs-CZ" dirty="0" err="1"/>
                  <a:t>RPN</a:t>
                </a:r>
                <a:r>
                  <a:rPr lang="cs-CZ" dirty="0"/>
                  <a:t>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r>
                      <a:rPr lang="cs-CZ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 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2+3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2+3</m:t>
                            </m:r>
                          </m:e>
                        </m:d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cs-CZ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×4</m:t>
                            </m:r>
                          </m:e>
                        </m:d>
                      </m:e>
                    </m:d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÷5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⇒2 3+5 4×+ 5÷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 xmlns="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P 12C Platinum 25th Anniversary Edition">
            <a:extLst>
              <a:ext uri="{FF2B5EF4-FFF2-40B4-BE49-F238E27FC236}">
                <a16:creationId xmlns:a16="http://schemas.microsoft.com/office/drawing/2014/main" id="{DB5B7F64-9BBB-9D58-C84A-23491A29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0218" y="0"/>
            <a:ext cx="4211782" cy="269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F3CF4E-295C-DF36-8D39-9F00FE8DB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8"/>
          <a:stretch>
            <a:fillRect/>
          </a:stretch>
        </p:blipFill>
        <p:spPr>
          <a:xfrm rot="369497">
            <a:off x="4055744" y="2998963"/>
            <a:ext cx="5080000" cy="39342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60781E-0EED-EA99-93D6-14C9A393ED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1"/>
          <a:stretch>
            <a:fillRect/>
          </a:stretch>
        </p:blipFill>
        <p:spPr>
          <a:xfrm rot="21175835">
            <a:off x="254000" y="247649"/>
            <a:ext cx="4187439" cy="43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680142-C4A9-51ED-20F5-9C554CD749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05470">
            <a:off x="9332112" y="3573306"/>
            <a:ext cx="2586991" cy="2586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B71CE3-BED5-C277-A71B-B062DE160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2" t="1385" r="4086" b="1736"/>
          <a:stretch>
            <a:fillRect/>
          </a:stretch>
        </p:blipFill>
        <p:spPr>
          <a:xfrm rot="21004061">
            <a:off x="8116716" y="273685"/>
            <a:ext cx="3859733" cy="283474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63EDE3D-2B12-F92D-AC18-DB824B920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3735" y="-3095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4B3-035B-A1FF-2F05-763397A7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64387-3FD7-3EF0-2F93-3902CAD58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cs-CZ" dirty="0"/>
              <a:t>Hlavní vlastnosti </a:t>
            </a:r>
            <a:r>
              <a:rPr lang="cs-CZ" dirty="0" err="1"/>
              <a:t>Rustu</a:t>
            </a:r>
            <a:r>
              <a:rPr lang="cs-CZ" dirty="0"/>
              <a:t>:</a:t>
            </a:r>
          </a:p>
          <a:p>
            <a:r>
              <a:rPr lang="cs-CZ" dirty="0"/>
              <a:t>hluboce integrovaný statický analyzátor (</a:t>
            </a:r>
            <a:r>
              <a:rPr lang="cs-CZ" dirty="0" err="1"/>
              <a:t>borrow</a:t>
            </a:r>
            <a:r>
              <a:rPr lang="cs-CZ" dirty="0"/>
              <a:t> checker), koncept vlastnictví</a:t>
            </a:r>
          </a:p>
          <a:p>
            <a:pPr lvl="1"/>
            <a:r>
              <a:rPr lang="cs-CZ" dirty="0"/>
              <a:t>"pokud se to zkompiluje, tak to poběží"</a:t>
            </a:r>
          </a:p>
          <a:p>
            <a:r>
              <a:rPr lang="cs-CZ" dirty="0"/>
              <a:t>deterministická správa paměti bez náhodných pauz pro "paměťového popeláře" --&gt; efektivita</a:t>
            </a:r>
          </a:p>
          <a:p>
            <a:r>
              <a:rPr lang="cs-CZ" dirty="0"/>
              <a:t>generické funkce a typy, systém </a:t>
            </a:r>
            <a:r>
              <a:rPr lang="cs-CZ" dirty="0" err="1"/>
              <a:t>traitů</a:t>
            </a:r>
            <a:r>
              <a:rPr lang="cs-CZ" dirty="0"/>
              <a:t> poskytující garanci vlastností a schopností namísto OOP --&gt; vhodné pro procedurální paradigma</a:t>
            </a:r>
          </a:p>
          <a:p>
            <a:r>
              <a:rPr lang="cs-CZ" dirty="0"/>
              <a:t>chyby jako hodnoty – sjednocené paradigma zpracovávání chyb pomocí algebraických datových typů (</a:t>
            </a:r>
            <a:r>
              <a:rPr lang="cs-CZ" dirty="0" err="1"/>
              <a:t>enumy</a:t>
            </a:r>
            <a:r>
              <a:rPr lang="cs-CZ" dirty="0"/>
              <a:t> s daty), žádné zapomenuté </a:t>
            </a:r>
            <a:r>
              <a:rPr lang="cs-CZ" dirty="0" err="1"/>
              <a:t>if</a:t>
            </a:r>
            <a:r>
              <a:rPr lang="cs-CZ" dirty="0"/>
              <a:t> (</a:t>
            </a:r>
            <a:r>
              <a:rPr lang="cs-CZ" dirty="0" err="1"/>
              <a:t>ptr</a:t>
            </a:r>
            <a:r>
              <a:rPr lang="cs-CZ" dirty="0"/>
              <a:t> != </a:t>
            </a:r>
            <a:r>
              <a:rPr lang="cs-CZ" dirty="0" err="1"/>
              <a:t>nullptr</a:t>
            </a:r>
            <a:r>
              <a:rPr lang="cs-CZ" dirty="0"/>
              <a:t>)</a:t>
            </a:r>
          </a:p>
          <a:p>
            <a:r>
              <a:rPr lang="cs-CZ" dirty="0"/>
              <a:t>politika abstrakce bez dopadu na výkon ("manuálně bys to nenapsal lépe")</a:t>
            </a:r>
          </a:p>
          <a:p>
            <a:r>
              <a:rPr lang="cs-CZ" dirty="0"/>
              <a:t>sjednocený systém pro sestavování a správce balíčků</a:t>
            </a:r>
          </a:p>
          <a:p>
            <a:r>
              <a:rPr lang="cs-CZ" dirty="0"/>
              <a:t>dobře čitelné chybové hlášky</a:t>
            </a:r>
          </a:p>
          <a:p>
            <a:r>
              <a:rPr lang="cs-CZ" dirty="0"/>
              <a:t>(okrajově) podpora pro bezpečnější a jednoduší souběžnost</a:t>
            </a:r>
          </a:p>
        </p:txBody>
      </p:sp>
    </p:spTree>
    <p:extLst>
      <p:ext uri="{BB962C8B-B14F-4D97-AF65-F5344CB8AC3E}">
        <p14:creationId xmlns:p14="http://schemas.microsoft.com/office/powerpoint/2010/main" val="3860842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Rust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Moderní (m.j.) systémový programovací jazyk</a:t>
            </a:r>
          </a:p>
          <a:p>
            <a:pPr lvl="1"/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, výkonný, přesto poskytuje abstrakci</a:t>
            </a:r>
          </a:p>
          <a:p>
            <a:pPr lvl="1"/>
            <a:r>
              <a:rPr lang="cs-CZ" dirty="0"/>
              <a:t>Odstup času =&gt; vyhnutí se starým chybám</a:t>
            </a:r>
          </a:p>
          <a:p>
            <a:r>
              <a:rPr lang="cs-CZ" dirty="0"/>
              <a:t>Hluboce integrovaný statický analyzátor – </a:t>
            </a:r>
            <a:r>
              <a:rPr lang="cs-CZ" dirty="0" err="1"/>
              <a:t>borrow</a:t>
            </a:r>
            <a:r>
              <a:rPr lang="cs-CZ" dirty="0"/>
              <a:t> checker</a:t>
            </a:r>
          </a:p>
          <a:p>
            <a:pPr lvl="1"/>
            <a:r>
              <a:rPr lang="cs-CZ" dirty="0"/>
              <a:t>Koncept vlastnictví a životností =&gt; paměťová bezpečnost</a:t>
            </a:r>
          </a:p>
          <a:p>
            <a:r>
              <a:rPr lang="cs-CZ" dirty="0"/>
              <a:t>Chyby jako hodnoty =&gt; explicitní</a:t>
            </a:r>
          </a:p>
          <a:p>
            <a:r>
              <a:rPr lang="cs-CZ" dirty="0"/>
              <a:t>Generické programování, systém </a:t>
            </a:r>
            <a:r>
              <a:rPr lang="cs-CZ" dirty="0" err="1"/>
              <a:t>traitů</a:t>
            </a:r>
            <a:endParaRPr lang="cs-CZ" dirty="0"/>
          </a:p>
          <a:p>
            <a:r>
              <a:rPr lang="cs-CZ" dirty="0"/>
              <a:t>Kvalitní nástroje</a:t>
            </a:r>
          </a:p>
          <a:p>
            <a:r>
              <a:rPr lang="cs-CZ" dirty="0"/>
              <a:t>Od roku 2016 „nejmilovanější“ jazyk v průzkumech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95BDB74-733A-FDE2-A739-0DE3B915B4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7040" y="-47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940D3-E158-1255-6253-DDC86DF07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pPr>
              <a:tabLst>
                <a:tab pos="1971675" algn="l"/>
              </a:tabLst>
            </a:pPr>
            <a:r>
              <a:rPr lang="cs-CZ" sz="5400" dirty="0" err="1"/>
              <a:t>Enum</a:t>
            </a:r>
            <a:r>
              <a:rPr lang="cs-CZ" sz="5400" dirty="0"/>
              <a:t> [</a:t>
            </a:r>
            <a:r>
              <a:rPr lang="cs-CZ" sz="5400" dirty="0" err="1"/>
              <a:t>ínam</a:t>
            </a:r>
            <a:r>
              <a:rPr lang="cs-CZ" sz="5400" dirty="0"/>
              <a:t>]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</p:spPr>
            <p:txBody>
              <a:bodyPr>
                <a:normAutofit/>
              </a:bodyPr>
              <a:lstStyle/>
              <a:p>
                <a:r>
                  <a:rPr lang="cs-CZ" sz="2200" dirty="0"/>
                  <a:t>C: výčtový typ (fixní sada hodnot s identifikátory)</a:t>
                </a:r>
              </a:p>
              <a:p>
                <a:r>
                  <a:rPr lang="cs-CZ" sz="2200" dirty="0"/>
                  <a:t>Rust: disjunktní sjednocení množin hodnot</a:t>
                </a:r>
              </a:p>
              <a:p>
                <a:pPr lvl="1"/>
                <a:r>
                  <a:rPr lang="cs-CZ" sz="2000" dirty="0"/>
                  <a:t>Běžné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={1, 2, 5, 10}</m:t>
                    </m:r>
                  </m:oMath>
                </a14:m>
                <a:endParaRPr lang="cs-CZ" sz="2000" dirty="0"/>
              </a:p>
              <a:p>
                <a:pPr lvl="1"/>
                <a:r>
                  <a:rPr lang="cs-CZ" sz="2000" dirty="0"/>
                  <a:t>Disjunktní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⊔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cs-CZ" sz="2000" dirty="0"/>
                  <a:t> </a:t>
                </a:r>
              </a:p>
              <a:p>
                <a:r>
                  <a:rPr lang="cs-CZ" sz="2200" dirty="0"/>
                  <a:t>Každá varianta </a:t>
                </a:r>
                <a:r>
                  <a:rPr lang="cs-CZ" sz="2200" dirty="0" err="1"/>
                  <a:t>enumu</a:t>
                </a:r>
                <a:r>
                  <a:rPr lang="cs-CZ" sz="2200" dirty="0"/>
                  <a:t> dokáže obsahovat další data</a:t>
                </a:r>
              </a:p>
              <a:p>
                <a:r>
                  <a:rPr lang="cs-CZ" sz="2200" dirty="0"/>
                  <a:t>Rozsáhlé využití při zacházení s chybami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  <a:blipFill>
                <a:blip r:embed="rId3"/>
                <a:stretch>
                  <a:fillRect l="-915" t="-2098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BE57D732-8A3D-41DB-F70E-E13CE98B07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" t="9905" r="56040" b="2300"/>
          <a:stretch>
            <a:fillRect/>
          </a:stretch>
        </p:blipFill>
        <p:spPr>
          <a:xfrm>
            <a:off x="8633679" y="329183"/>
            <a:ext cx="2474537" cy="34299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761382-BF14-2CEB-D414-A505672C3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" t="12605" r="34817" b="2986"/>
          <a:stretch>
            <a:fillRect/>
          </a:stretch>
        </p:blipFill>
        <p:spPr>
          <a:xfrm>
            <a:off x="8368600" y="4353511"/>
            <a:ext cx="3420093" cy="183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412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54250-EC80-B686-0879-9FC018462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Vlastnictví a půjčování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ACF-B009-EEA3-F009-17084C1AB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cs-CZ" dirty="0"/>
              <a:t>Každá hodnota má jediného vlastníka</a:t>
            </a:r>
          </a:p>
          <a:p>
            <a:pPr lvl="1"/>
            <a:r>
              <a:rPr lang="cs-CZ" dirty="0"/>
              <a:t>Vlastník: proměnná v bloku kódu / objekt (struktura či </a:t>
            </a:r>
            <a:r>
              <a:rPr lang="cs-CZ" dirty="0" err="1"/>
              <a:t>enum</a:t>
            </a:r>
            <a:r>
              <a:rPr lang="cs-CZ" dirty="0"/>
              <a:t>)</a:t>
            </a:r>
          </a:p>
          <a:p>
            <a:pPr lvl="1"/>
            <a:r>
              <a:rPr lang="cs-CZ" dirty="0"/>
              <a:t>Proměnná je přístupná pouze pro jejího vlastníka</a:t>
            </a:r>
          </a:p>
          <a:p>
            <a:pPr lvl="1"/>
            <a:r>
              <a:rPr lang="cs-CZ" dirty="0"/>
              <a:t>Přiřazení do jiné proměnné nebo parametru funkce předá vlastnictví</a:t>
            </a:r>
          </a:p>
          <a:p>
            <a:r>
              <a:rPr lang="cs-CZ" dirty="0"/>
              <a:t>Proměnné jsou ve výchozím stavu neměnné – klíčové slovo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mut</a:t>
            </a:r>
            <a:r>
              <a:rPr lang="cs-CZ" dirty="0"/>
              <a:t> </a:t>
            </a:r>
          </a:p>
          <a:p>
            <a:r>
              <a:rPr lang="cs-CZ" dirty="0"/>
              <a:t>Reference = ukazatele</a:t>
            </a:r>
          </a:p>
          <a:p>
            <a:pPr lvl="1"/>
            <a:r>
              <a:rPr lang="cs-CZ" dirty="0"/>
              <a:t>„Propůjčují“ danou hodnotu někomu jinému (nejčastěji funkci)</a:t>
            </a:r>
          </a:p>
          <a:p>
            <a:pPr lvl="1"/>
            <a:r>
              <a:rPr lang="cs-CZ" dirty="0"/>
              <a:t>Nikdy nesmí mít delší životnost než původní hodnota</a:t>
            </a:r>
          </a:p>
          <a:p>
            <a:pPr lvl="1"/>
            <a:r>
              <a:rPr lang="cs-CZ" dirty="0"/>
              <a:t>1 měnitelná reference, nebo nekonečno neměnných referencí</a:t>
            </a:r>
          </a:p>
          <a:p>
            <a:r>
              <a:rPr lang="cs-CZ" dirty="0"/>
              <a:t>Při skončení životnosti automaticky zavolán Drop</a:t>
            </a:r>
          </a:p>
        </p:txBody>
      </p:sp>
    </p:spTree>
    <p:extLst>
      <p:ext uri="{BB962C8B-B14F-4D97-AF65-F5344CB8AC3E}">
        <p14:creationId xmlns:p14="http://schemas.microsoft.com/office/powerpoint/2010/main" val="3028556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E20D0D-91F3-3401-70D1-3692CC0CB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6BD78AD-DE34-6F3B-2EB1-21CEF2C4D2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5" y="2807208"/>
            <a:ext cx="5465065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„rys, vlastnost, příznak“</a:t>
            </a:r>
          </a:p>
          <a:p>
            <a:r>
              <a:rPr lang="cs-CZ" sz="2200" dirty="0"/>
              <a:t>Definují abstraktní chování datových typů</a:t>
            </a:r>
          </a:p>
          <a:p>
            <a:pPr lvl="1"/>
            <a:r>
              <a:rPr lang="cs-CZ" sz="2000" dirty="0"/>
              <a:t>Vlastnosti, metody (funkce na typy)</a:t>
            </a:r>
          </a:p>
          <a:p>
            <a:r>
              <a:rPr lang="cs-CZ" sz="2200" dirty="0"/>
              <a:t>Funkce „univerzální“ přes různé typy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omezují generické parametry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741EA8-998F-82FA-FF60-505A4104C9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t="2798" r="3700" b="1683"/>
          <a:stretch>
            <a:fillRect/>
          </a:stretch>
        </p:blipFill>
        <p:spPr>
          <a:xfrm>
            <a:off x="6655622" y="640080"/>
            <a:ext cx="490544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7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C53ACE-5A18-0223-F078-F212AF8D0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AF63F9-96E4-CAE6-8E27-BAD90F2D3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 2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05A3046-89B3-C287-04D7-C746C39208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201392" y="1043156"/>
            <a:ext cx="6362250" cy="477168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A44BED2-120E-0B7F-D74E-A629CFE663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4570456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Přenositelné knihovny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poskytují jednotné rozhraní pro různé </a:t>
            </a:r>
            <a:r>
              <a:rPr lang="cs-CZ" sz="2000" dirty="0" err="1"/>
              <a:t>backendy</a:t>
            </a:r>
            <a:endParaRPr lang="cs-CZ" sz="2000" dirty="0"/>
          </a:p>
          <a:p>
            <a:pPr lvl="1"/>
            <a:r>
              <a:rPr lang="cs-CZ" sz="2000" dirty="0"/>
              <a:t>Knihovny pak mohou být psány oproti těmto rozhraním namísto konkrétních implementací</a:t>
            </a:r>
            <a:endParaRPr lang="cs-CZ" sz="2200" dirty="0"/>
          </a:p>
          <a:p>
            <a:r>
              <a:rPr lang="cs-CZ" sz="2200" dirty="0"/>
              <a:t>Příklad: </a:t>
            </a:r>
            <a:r>
              <a:rPr lang="cs-CZ" sz="2200" dirty="0" err="1">
                <a:highlight>
                  <a:srgbClr val="C0C0C0"/>
                </a:highlight>
              </a:rPr>
              <a:t>embedded</a:t>
            </a:r>
            <a:r>
              <a:rPr lang="cs-CZ" sz="2200" dirty="0">
                <a:highlight>
                  <a:srgbClr val="C0C0C0"/>
                </a:highlight>
              </a:rPr>
              <a:t>-hal</a:t>
            </a:r>
            <a:r>
              <a:rPr lang="cs-CZ" sz="2200" dirty="0"/>
              <a:t> (různé mikrořadiče, jedno rozhraní)</a:t>
            </a:r>
          </a:p>
        </p:txBody>
      </p:sp>
    </p:spTree>
    <p:extLst>
      <p:ext uri="{BB962C8B-B14F-4D97-AF65-F5344CB8AC3E}">
        <p14:creationId xmlns:p14="http://schemas.microsoft.com/office/powerpoint/2010/main" val="383589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7E7AA4-EFEC-4617-E1DF-3E0BA4706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Traity</a:t>
            </a:r>
            <a:r>
              <a:rPr lang="cs-CZ" dirty="0"/>
              <a:t> 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717209-8749-396C-9CE4-92D63F733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94048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9CC341-C25B-F877-D447-AF84B4A23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Architektura programu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AB956-920E-CF3C-3578-10FABD0AC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Setup, event </a:t>
            </a:r>
            <a:r>
              <a:rPr lang="cs-CZ" dirty="0" err="1"/>
              <a:t>loop</a:t>
            </a:r>
            <a:endParaRPr lang="cs-CZ" dirty="0"/>
          </a:p>
          <a:p>
            <a:r>
              <a:rPr lang="cs-CZ" dirty="0" err="1"/>
              <a:t>modules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34217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3CDE-8F32-A485-10B4-FA031EFC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Desetinná čísla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5C0BB-C97C-4C65-9E4F-8751068C4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21032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CEB5-567A-56FC-A79D-8EBBE314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Ovládání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313B4-1167-5BFE-4914-AF8C4B665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93242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5F07-92E8-AF88-403B-50025CB8E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Výsledek v akci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79220-6287-5881-E828-1F00E207B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8455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E017E-CF88-884F-B871-85FFD3A79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Osobní shrnutí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97471-F608-2CF7-AC14-186A540FD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059705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2163</TotalTime>
  <Words>1882</Words>
  <Application>Microsoft Office PowerPoint</Application>
  <PresentationFormat>Widescreen</PresentationFormat>
  <Paragraphs>180</Paragraphs>
  <Slides>16</Slides>
  <Notes>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Consolas</vt:lpstr>
      <vt:lpstr>Motiv Office</vt:lpstr>
      <vt:lpstr>Kalkulačka v postfixové notaci na čipu RP2040</vt:lpstr>
      <vt:lpstr>Výběr tématu</vt:lpstr>
      <vt:lpstr>Postfixová notace</vt:lpstr>
      <vt:lpstr>PowerPoint Presentation</vt:lpstr>
      <vt:lpstr>PowerPoint Presentation</vt:lpstr>
      <vt:lpstr>Rust</vt:lpstr>
      <vt:lpstr>Enum [ínam]</vt:lpstr>
      <vt:lpstr>Vlastnictví a půjčování</vt:lpstr>
      <vt:lpstr>Traity</vt:lpstr>
      <vt:lpstr>Traity 2</vt:lpstr>
      <vt:lpstr>Traity 3</vt:lpstr>
      <vt:lpstr>Architektura programu</vt:lpstr>
      <vt:lpstr>Desetinná čísla</vt:lpstr>
      <vt:lpstr>Ovládání</vt:lpstr>
      <vt:lpstr>Výsledek v akci</vt:lpstr>
      <vt:lpstr>Osobní shrnutí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191</cp:revision>
  <dcterms:created xsi:type="dcterms:W3CDTF">2026-03-24T10:48:56Z</dcterms:created>
  <dcterms:modified xsi:type="dcterms:W3CDTF">2026-04-02T20:24:23Z</dcterms:modified>
</cp:coreProperties>
</file>