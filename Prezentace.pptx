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comments/modernComment_10F_1D3B1A8A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109_8B2154F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9" r:id="rId3"/>
    <p:sldId id="257" r:id="rId4"/>
    <p:sldId id="261" r:id="rId5"/>
    <p:sldId id="263" r:id="rId6"/>
    <p:sldId id="258" r:id="rId7"/>
    <p:sldId id="271" r:id="rId8"/>
    <p:sldId id="270" r:id="rId9"/>
    <p:sldId id="262" r:id="rId10"/>
    <p:sldId id="264" r:id="rId11"/>
    <p:sldId id="272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632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138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F_1D3B1A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E681B9-C046-4031-A410-095919527E16}" authorId="{6027075E-E1E5-2701-A4E4-E7D417A591B4}" created="2026-04-03T09:12:43.94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90412682" sldId="271"/>
      <ac:spMk id="2" creationId="{607940D3-E158-1255-6253-DDC86DF077C7}"/>
      <ac:txMk cp="5" len="7">
        <ac:context len="13" hash="2811815585"/>
      </ac:txMk>
    </ac:txMkLst>
    <p188:pos x="4181302" y="1273985"/>
    <p188:txBody>
      <a:bodyPr/>
      <a:lstStyle/>
      <a:p>
        <a:r>
          <a:rPr lang="cs-CZ"/>
          <a:t>Mezinárodní fonetická abeceda, abychom potěšili předsedu češtináře...</a:t>
        </a:r>
      </a:p>
    </p188:txBody>
  </p188:cm>
</p188:cmLst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comments/modernComment_109_8B2154F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14CA40-1E1C-4583-9708-DB630D347108}" authorId="{6027075E-E1E5-2701-A4E4-E7D417A591B4}" created="2026-04-03T10:23:43.275">
    <pc:sldMkLst xmlns:pc="http://schemas.microsoft.com/office/powerpoint/2013/main/command">
      <pc:docMk/>
      <pc:sldMk cId="2334217468" sldId="265"/>
    </pc:sldMkLst>
    <p188:txBody>
      <a:bodyPr/>
      <a:lstStyle/>
      <a:p>
        <a:r>
          <a:rPr lang="cs-CZ"/>
          <a:t>Teoreticky není potřeba ho převádět na Unicode, ale… Pššt!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bezpečnost“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Vlastnictví a půjčování popsán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Enum</a:t>
            </a:r>
            <a:r>
              <a:rPr lang="cs-CZ" dirty="0"/>
              <a:t> je disjunktní sjednocení – popsáno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Systém </a:t>
            </a:r>
            <a:r>
              <a:rPr lang="cs-CZ" dirty="0" err="1"/>
              <a:t>traitů</a:t>
            </a:r>
            <a:r>
              <a:rPr lang="cs-CZ" dirty="0"/>
              <a:t> popsán dále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Enum</a:t>
            </a:r>
            <a:r>
              <a:rPr lang="cs-CZ" dirty="0"/>
              <a:t>, česky také „výčtový typ“, je datový typ, ve kterém programátor specifikuje konečnou množinu hodnot, kterých smí nabývat.</a:t>
            </a:r>
          </a:p>
          <a:p>
            <a:r>
              <a:rPr lang="cs-CZ" dirty="0"/>
              <a:t>Každé hodnotě je běžně přiřazen textový identifikátor (a interní číselná reprezentace), který lze dále používat v kódu.</a:t>
            </a:r>
          </a:p>
          <a:p>
            <a:r>
              <a:rPr lang="cs-CZ" dirty="0"/>
              <a:t>Na vrchním obrázku je příklad definice takovéhoto výčtu v jazyce C.</a:t>
            </a:r>
          </a:p>
          <a:p>
            <a:endParaRPr lang="cs-CZ" dirty="0"/>
          </a:p>
          <a:p>
            <a:r>
              <a:rPr lang="cs-CZ" dirty="0"/>
              <a:t>V jazyce Rust ale dokáží </a:t>
            </a:r>
            <a:r>
              <a:rPr lang="cs-CZ" dirty="0" err="1"/>
              <a:t>enumy</a:t>
            </a:r>
            <a:r>
              <a:rPr lang="cs-CZ" dirty="0"/>
              <a:t> mnohem více: jedná se o disjunktní sjednocení. To znamená, že je tvořen několika množinami hodnot,</a:t>
            </a:r>
          </a:p>
          <a:p>
            <a:r>
              <a:rPr lang="cs-CZ" dirty="0"/>
              <a:t>a dokáže nabývat jakékoli z nich, ale rozlišuje stejné hodnoty z jiných množin.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příkladu zde je vidět, že když tyto dvě množiny hodnot obsahují hodnotu 2, tak běžné sjednocení by ji nerozlišovalo,</a:t>
            </a:r>
            <a:br>
              <a:rPr lang="cs-CZ" dirty="0"/>
            </a:br>
            <a:r>
              <a:rPr lang="cs-CZ" dirty="0"/>
              <a:t>ale disjunktní sjednocení rozlišuje mezi 2 z množiny A </a:t>
            </a:r>
            <a:r>
              <a:rPr lang="cs-CZ" dirty="0" err="1"/>
              <a:t>a</a:t>
            </a:r>
            <a:r>
              <a:rPr lang="cs-CZ" dirty="0"/>
              <a:t> 2 z množiny 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praxi je to využíváno tak, že každá varianta </a:t>
            </a:r>
            <a:r>
              <a:rPr lang="cs-CZ" dirty="0" err="1"/>
              <a:t>enumu</a:t>
            </a:r>
            <a:r>
              <a:rPr lang="cs-CZ" dirty="0"/>
              <a:t> se skládá nejen z identifikátoru,</a:t>
            </a:r>
            <a:br>
              <a:rPr lang="cs-CZ" dirty="0"/>
            </a:br>
            <a:r>
              <a:rPr lang="cs-CZ" dirty="0"/>
              <a:t>ale volitelně i z jednoho nebo více datového typů, které pak daná varianta bude obsahovat.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spodním obrázku je příklad definice takového </a:t>
            </a:r>
            <a:r>
              <a:rPr lang="cs-CZ" dirty="0" err="1"/>
              <a:t>enumu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Rust hojně využívá </a:t>
            </a:r>
            <a:r>
              <a:rPr lang="cs-CZ" dirty="0" err="1"/>
              <a:t>enumy</a:t>
            </a:r>
            <a:r>
              <a:rPr lang="cs-CZ" dirty="0"/>
              <a:t> pro práci s chybami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Data, která jsou navrácena při úspěchu, jsou obsažena ve variantě Ok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 navrácena při chybě (označující nejčastěji druh chyby, ke které došlo) jsou obsažena ve variantě </a:t>
            </a:r>
            <a:r>
              <a:rPr lang="cs-CZ" dirty="0" err="1"/>
              <a:t>Err</a:t>
            </a: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Zdroje obrázků: vlastní tvorba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96827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„teze“ </a:t>
            </a:r>
            <a:r>
              <a:rPr lang="cs-CZ" dirty="0" err="1"/>
              <a:t>borrow</a:t>
            </a:r>
            <a:r>
              <a:rPr lang="cs-CZ" dirty="0"/>
              <a:t> </a:t>
            </a:r>
            <a:r>
              <a:rPr lang="cs-CZ" dirty="0" err="1"/>
              <a:t>checkeru</a:t>
            </a:r>
            <a:r>
              <a:rPr lang="cs-CZ" dirty="0"/>
              <a:t> jsou následující:</a:t>
            </a:r>
          </a:p>
          <a:p>
            <a:endParaRPr lang="cs-CZ" dirty="0"/>
          </a:p>
          <a:p>
            <a:r>
              <a:rPr lang="cs-CZ" dirty="0"/>
              <a:t>Každá hodnota má svého jediného vlastníka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Vlastníkem může být proměnná deklarovaná v určitém bloku kódu, nebo nějaký objekt (struktura nebo </a:t>
            </a:r>
            <a:r>
              <a:rPr lang="cs-CZ" dirty="0" err="1"/>
              <a:t>enum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 proměnné dokáže přistupovat pouze její vlastník (nebo blok kódu uvnitř vlastníka)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 výchozím stavu, pokud přiřadíme proměnnou do jiné proměnné, nebo ji předáme jako parametr nějaké funkci bez reference,</a:t>
            </a:r>
            <a:br>
              <a:rPr lang="cs-CZ" dirty="0"/>
            </a:br>
            <a:r>
              <a:rPr lang="cs-CZ" dirty="0"/>
              <a:t>předáme vlastnictví této nové proměnné nebo bloku kódu tvořící kód funkce, tzv. ji přesuneme nebo „předáme přes hodnotu“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Až na později popsanou výjimku, </a:t>
            </a:r>
            <a:r>
              <a:rPr lang="cs-CZ" dirty="0" err="1"/>
              <a:t>trait</a:t>
            </a:r>
            <a:r>
              <a:rPr lang="cs-CZ" dirty="0"/>
              <a:t> Copy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Ve výchozím stavu jsou všechny proměnné a reference neměnné, je třeba je explicitně označit jako měnitelné klíčovým slovem </a:t>
            </a:r>
            <a:r>
              <a:rPr lang="cs-CZ" dirty="0" err="1"/>
              <a:t>mut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jiných jazycích jako C a C++ naopak jsou všechny proměnné měnitelné, pokud nejsou označeny jinak, což m.j. ztěžuje optimalizace kompilátoru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Reference jsou ukazatele na proměnné – hodnoty ukládající adresu v paměti, kde se ukazovaná proměnná nachází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paradigmatu vlastnictví reference „propůjčují“ vlastnictví, povolují vlastníkovi proměnné dočasně přistupovat k proměnné,</a:t>
            </a:r>
            <a:br>
              <a:rPr lang="cs-CZ" dirty="0"/>
            </a:br>
            <a:r>
              <a:rPr lang="cs-CZ" dirty="0"/>
              <a:t>ale vlastnictví zůstává stejné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</a:t>
            </a:r>
            <a:r>
              <a:rPr lang="cs-CZ" dirty="0" err="1"/>
              <a:t>Nejčatěji</a:t>
            </a:r>
            <a:r>
              <a:rPr lang="cs-CZ" dirty="0"/>
              <a:t> jsou propůjčovány funkcím, protože když předáme hodnotu funkci, která ji nám nevrátí, proměnná zanikne,</a:t>
            </a:r>
            <a:br>
              <a:rPr lang="cs-CZ" dirty="0"/>
            </a:br>
            <a:r>
              <a:rPr lang="cs-CZ" dirty="0"/>
              <a:t>    takže pokud předáme funkci jen referenci, tak s hodnotou může funkce pracovat, aniž by proměnná zanikla,</a:t>
            </a:r>
            <a:br>
              <a:rPr lang="cs-CZ" dirty="0"/>
            </a:br>
            <a:r>
              <a:rPr lang="cs-CZ" dirty="0"/>
              <a:t>    v takovém případě tzv. předáme přes referenci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Rovněž se dělí na měnitelné, které mohou měnit hodnotu ukazované proměnné, a neměnné, které mohou pouze číst hodnotu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Borrow</a:t>
            </a:r>
            <a:r>
              <a:rPr lang="cs-CZ" dirty="0"/>
              <a:t> checker zajišťuje, že reference vždy ukazují na platné místo v paměti, zejm. že: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Reference není tzv. nulovým ukazatelem, tedy že neukazuje doslova nikam, na žádnou hodnotu (reprezentováno adresou nula – 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Ukazovaná proměnná nezanikne po celou životnost reference, což </a:t>
            </a:r>
            <a:r>
              <a:rPr lang="cs-CZ" dirty="0" err="1"/>
              <a:t>borrow</a:t>
            </a:r>
            <a:r>
              <a:rPr lang="cs-CZ" dirty="0"/>
              <a:t> checker vynucuje pomocí sledování životností proměnných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 zájmu zabránění souběhu (konfliktnímu přístupu k proměnné) smí existovat naráz (z pohledu životností) buď nejvýše jedna měnitelná reference, nebo nekonečno neměnných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 skončení životnosti proměnné zavolá kompilátor automaticky její implementaci </a:t>
            </a:r>
            <a:r>
              <a:rPr lang="cs-CZ" dirty="0" err="1"/>
              <a:t>traitu</a:t>
            </a:r>
            <a:r>
              <a:rPr lang="cs-CZ" dirty="0"/>
              <a:t> Drop, pokud existuje,</a:t>
            </a:r>
            <a:br>
              <a:rPr lang="cs-CZ" dirty="0"/>
            </a:br>
            <a:r>
              <a:rPr lang="cs-CZ" dirty="0"/>
              <a:t>která „po sobě uklidí“, například uvolní alokovanou paměť.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Struktury a </a:t>
            </a:r>
            <a:r>
              <a:rPr lang="cs-CZ" dirty="0" err="1"/>
              <a:t>enumy</a:t>
            </a:r>
            <a:r>
              <a:rPr lang="cs-CZ" dirty="0"/>
              <a:t> nejdříve zavolají Drop samy na sobě, a pak na hodnotách v nich uložených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Pokud </a:t>
            </a:r>
            <a:r>
              <a:rPr lang="cs-CZ" dirty="0" err="1"/>
              <a:t>borrow</a:t>
            </a:r>
            <a:r>
              <a:rPr lang="cs-CZ" dirty="0"/>
              <a:t> checker není schopen zajistit, že jeho pravidla budou naplněna, je možné použít ještě tzv. surové ukazatele,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které samy o sobě neposkytují žádné garance a u kterých je za dodržování pravidel zodpovědný programátor.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Ztráta těchto garancí je však nebezpečná, protože nelze 100% prokázat, tudíž je možné přistupovat k hodnotám na adresách,</a:t>
            </a:r>
            <a:br>
              <a:rPr lang="cs-CZ" dirty="0"/>
            </a:br>
            <a:r>
              <a:rPr lang="cs-CZ" dirty="0"/>
              <a:t>na které surové ukazatele ukazují, pouze v speciálně označených blocích </a:t>
            </a:r>
            <a:r>
              <a:rPr lang="cs-CZ" dirty="0" err="1"/>
              <a:t>unsafe</a:t>
            </a:r>
            <a:r>
              <a:rPr lang="cs-CZ" dirty="0"/>
              <a:t>, které tak omezují možný rozsah,</a:t>
            </a:r>
            <a:br>
              <a:rPr lang="cs-CZ" dirty="0"/>
            </a:br>
            <a:r>
              <a:rPr lang="cs-CZ" dirty="0"/>
              <a:t>kde by se mohly dít nebezpečné operace, na nutné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617715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mohou volitelně vyžadovat, že mohou být implementovány pouze pokud je implementován i jiný </a:t>
            </a:r>
            <a:r>
              <a:rPr lang="cs-CZ" dirty="0" err="1"/>
              <a:t>trait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</a:t>
            </a:r>
            <a:r>
              <a:rPr lang="cs-CZ" dirty="0"/>
              <a:t>, který je vyžadován, je nazývaný „</a:t>
            </a:r>
            <a:r>
              <a:rPr lang="cs-CZ" dirty="0" err="1"/>
              <a:t>supertrait</a:t>
            </a:r>
            <a:r>
              <a:rPr lang="cs-CZ" dirty="0"/>
              <a:t>“ (jako nadmnožina), vyžadující </a:t>
            </a:r>
            <a:r>
              <a:rPr lang="cs-CZ" dirty="0" err="1"/>
              <a:t>trait</a:t>
            </a:r>
            <a:r>
              <a:rPr lang="cs-CZ" dirty="0"/>
              <a:t> je „</a:t>
            </a:r>
            <a:r>
              <a:rPr lang="cs-CZ" dirty="0" err="1"/>
              <a:t>subtrait</a:t>
            </a:r>
            <a:r>
              <a:rPr lang="cs-CZ" dirty="0"/>
              <a:t>“ (jako podmnožina)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generické parametry 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5223-D280-3EF6-1CA1-BC09051B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593B5-15A7-CBB4-FC12-BEFB26DB8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3F266-B512-1109-6F8B-B19BC4EE2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jednotné rozhraní pro knihovny (drivery atd.)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Některé knihovny (typicky ovladače v </a:t>
            </a:r>
            <a:r>
              <a:rPr lang="cs-CZ" dirty="0" err="1"/>
              <a:t>embedded</a:t>
            </a:r>
            <a:r>
              <a:rPr lang="cs-CZ" dirty="0"/>
              <a:t> sféře) potřebují být přenositelné přes mnoho různých </a:t>
            </a:r>
            <a:r>
              <a:rPr lang="cs-CZ" dirty="0" err="1"/>
              <a:t>backendů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Traity</a:t>
            </a:r>
            <a:r>
              <a:rPr lang="cs-CZ" dirty="0"/>
              <a:t> mohou být tímto „styčným bodem“, umožňujícím </a:t>
            </a:r>
            <a:r>
              <a:rPr lang="cs-CZ" dirty="0" err="1"/>
              <a:t>backendům</a:t>
            </a:r>
            <a:r>
              <a:rPr lang="cs-CZ" dirty="0"/>
              <a:t> abstrahovat své fungování do jednotných rozhraní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Knihovny pak mohou cílit na toto jednotné rozhraní a tak podporovat jakýkoli </a:t>
            </a:r>
            <a:r>
              <a:rPr lang="cs-CZ" dirty="0" err="1"/>
              <a:t>backend</a:t>
            </a:r>
            <a:r>
              <a:rPr lang="cs-CZ" dirty="0"/>
              <a:t>, který toto rozhraní implementuje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Například v našem projektu jsme použili knihovnu </a:t>
            </a:r>
            <a:r>
              <a:rPr lang="cs-CZ" dirty="0" err="1"/>
              <a:t>embedded</a:t>
            </a:r>
            <a:r>
              <a:rPr lang="cs-CZ" dirty="0"/>
              <a:t>-hal, která sama o sobě pouze poskytuje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Konkrétní HAL (vrstvy pro abstrakci hardwaru) pak implementují tyto </a:t>
            </a:r>
            <a:r>
              <a:rPr lang="cs-CZ" dirty="0" err="1"/>
              <a:t>traity</a:t>
            </a:r>
            <a:r>
              <a:rPr lang="cs-CZ" dirty="0"/>
              <a:t> na svých strukturách poskytujících přístup k hardwaru,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 ovladače pro periferie mohou psát své funkce generické přes tyto stejné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Každý ovladač je pak schopen běžet na každé HAL bez potíží.</a:t>
            </a:r>
          </a:p>
          <a:p>
            <a:endParaRPr lang="cs-CZ" dirty="0"/>
          </a:p>
          <a:p>
            <a:r>
              <a:rPr lang="cs-CZ" dirty="0"/>
              <a:t>Zdroj obrázku: </a:t>
            </a:r>
            <a:r>
              <a:rPr lang="cs-CZ" dirty="0" err="1"/>
              <a:t>Gemini</a:t>
            </a:r>
            <a:r>
              <a:rPr lang="cs-CZ" dirty="0"/>
              <a:t> 3.1 Pro (2.4.2026)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16A58-DEF8-805F-E932-8A08E995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475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Využití 3: samotný jazyk využívá interně různé speciální </a:t>
            </a:r>
            <a:r>
              <a:rPr lang="cs-CZ" dirty="0" err="1"/>
              <a:t>traity</a:t>
            </a:r>
            <a:r>
              <a:rPr lang="cs-CZ" dirty="0"/>
              <a:t> pro některé své funkce</a:t>
            </a:r>
          </a:p>
          <a:p>
            <a:endParaRPr lang="cs-CZ" dirty="0"/>
          </a:p>
          <a:p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Clone</a:t>
            </a:r>
            <a:r>
              <a:rPr lang="cs-CZ" dirty="0"/>
              <a:t> a Copy poskytují způsoby, jak zkopírovat hodnotu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Clone</a:t>
            </a:r>
            <a:r>
              <a:rPr lang="cs-CZ" dirty="0"/>
              <a:t> poskytuje nějakou metodu, která vytvoří sémantickou kopii, může alokovat novou paměť atd.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Copy pouze označuje, že lze hodnotu zkopírovat slepou kopií bitů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Pokud typ implementuje Copy, je automaticky kopírován, kdykoli by byl přesunut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Copy vyžaduje i implementaci </a:t>
            </a:r>
            <a:r>
              <a:rPr lang="cs-CZ" dirty="0" err="1"/>
              <a:t>Clone</a:t>
            </a:r>
            <a:r>
              <a:rPr lang="cs-CZ" dirty="0"/>
              <a:t>, který je pak implementovaný prostou kopií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Drop, jak již bylo popsáno, umožňuje spustit vlastní kód, kdykoli je hodnota zničena (tzv. destruktor)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uvolnění zdrojů, uzavření </a:t>
            </a:r>
            <a:r>
              <a:rPr lang="cs-CZ" dirty="0" err="1"/>
              <a:t>socketu</a:t>
            </a:r>
            <a:r>
              <a:rPr lang="cs-CZ" dirty="0"/>
              <a:t> apod.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Vzájemně se vylučuje s Copy, protože by bylo velmi náročné předvídat, kdy a jak často by byly destruktory volány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Default vyžaduje metodu, která by fungovala jako výchozí konstruktor, navracejíc výchozí hodnotu typu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 čísel je to nula (0), u </a:t>
            </a:r>
            <a:r>
              <a:rPr lang="cs-CZ" dirty="0" err="1"/>
              <a:t>String</a:t>
            </a:r>
            <a:r>
              <a:rPr lang="cs-CZ" dirty="0"/>
              <a:t> je to prázdný řetězec apod.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traitů</a:t>
            </a:r>
            <a:r>
              <a:rPr lang="cs-CZ" dirty="0"/>
              <a:t> </a:t>
            </a:r>
            <a:r>
              <a:rPr lang="cs-CZ" dirty="0" err="1"/>
              <a:t>PartialEq</a:t>
            </a:r>
            <a:r>
              <a:rPr lang="cs-CZ" dirty="0"/>
              <a:t> a </a:t>
            </a:r>
            <a:r>
              <a:rPr lang="cs-CZ" dirty="0" err="1"/>
              <a:t>Eq</a:t>
            </a:r>
            <a:r>
              <a:rPr lang="cs-CZ" dirty="0"/>
              <a:t> definuje způsob porovnávání u operátoru 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PartialEq</a:t>
            </a:r>
            <a:r>
              <a:rPr lang="cs-CZ" dirty="0"/>
              <a:t> vyžaduje symetrickou a tranzitivní relaci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Eq</a:t>
            </a:r>
            <a:r>
              <a:rPr lang="cs-CZ" dirty="0"/>
              <a:t> je </a:t>
            </a:r>
            <a:r>
              <a:rPr lang="cs-CZ" dirty="0" err="1"/>
              <a:t>subtrait</a:t>
            </a:r>
            <a:r>
              <a:rPr lang="cs-CZ" dirty="0"/>
              <a:t> (podmnožina) </a:t>
            </a:r>
            <a:r>
              <a:rPr lang="cs-CZ" dirty="0" err="1"/>
              <a:t>PartialEq</a:t>
            </a:r>
            <a:r>
              <a:rPr lang="cs-CZ" dirty="0"/>
              <a:t> a vyžaduje navíc reflexivní relaci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PartialOrd</a:t>
            </a:r>
            <a:r>
              <a:rPr lang="cs-CZ" dirty="0"/>
              <a:t> a </a:t>
            </a:r>
            <a:r>
              <a:rPr lang="cs-CZ" dirty="0" err="1"/>
              <a:t>Ord</a:t>
            </a:r>
            <a:r>
              <a:rPr lang="cs-CZ" dirty="0"/>
              <a:t> definuje způsob porovnávání / seřazování u operátorů nerovnosti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Porovnání </a:t>
            </a:r>
            <a:r>
              <a:rPr lang="cs-CZ" dirty="0" err="1"/>
              <a:t>PartialOrd</a:t>
            </a:r>
            <a:r>
              <a:rPr lang="cs-CZ" dirty="0"/>
              <a:t> může selhat, </a:t>
            </a:r>
            <a:r>
              <a:rPr lang="cs-CZ" dirty="0" err="1"/>
              <a:t>Ord</a:t>
            </a:r>
            <a:r>
              <a:rPr lang="cs-CZ" dirty="0"/>
              <a:t> je schopno seřadit celou množinu hodnot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Předešlé dva </a:t>
            </a:r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Partial</a:t>
            </a:r>
            <a:r>
              <a:rPr lang="cs-CZ" dirty="0"/>
              <a:t>* existují hlavně kvůli číslům s plovoucí desetinnou čárkou, protože hodnota </a:t>
            </a:r>
            <a:r>
              <a:rPr lang="cs-CZ" dirty="0" err="1"/>
              <a:t>NaN</a:t>
            </a:r>
            <a:r>
              <a:rPr lang="cs-CZ" dirty="0"/>
              <a:t> (=není číslo)</a:t>
            </a:r>
            <a:br>
              <a:rPr lang="cs-CZ" dirty="0"/>
            </a:br>
            <a:r>
              <a:rPr lang="cs-CZ" dirty="0"/>
              <a:t>se nerovná sama sobě (ani ničemu jinému) a jakékoli porovnání s ní je nepravdivé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Debug</a:t>
            </a:r>
            <a:r>
              <a:rPr lang="cs-CZ" dirty="0"/>
              <a:t> a Display specifikuje způsob, jak formátovat hodnotu na text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Debug</a:t>
            </a:r>
            <a:r>
              <a:rPr lang="cs-CZ" dirty="0"/>
              <a:t> je zamýšleno jako zobrazení pro programátora, nemá být nijak „hezké“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Ideálně úplně každý typ by ho měl implementovat, i třeba jen jako výčet hodnot polí ve struktuře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Display je zamýšleno jako zobrazení pro uživatele, mělo by zobrazovat sémantickou hodnotu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Clone</a:t>
            </a:r>
            <a:r>
              <a:rPr lang="cs-CZ" dirty="0"/>
              <a:t>, Copy, Default, </a:t>
            </a:r>
            <a:r>
              <a:rPr lang="cs-CZ" dirty="0" err="1"/>
              <a:t>Debug</a:t>
            </a:r>
            <a:r>
              <a:rPr lang="cs-CZ" dirty="0"/>
              <a:t> a porovnávání lze automaticky implementovat na naše typy pomocí makra </a:t>
            </a:r>
            <a:r>
              <a:rPr lang="cs-CZ" dirty="0" err="1"/>
              <a:t>derive</a:t>
            </a:r>
            <a:r>
              <a:rPr lang="cs-CZ" dirty="0"/>
              <a:t>,</a:t>
            </a:r>
            <a:br>
              <a:rPr lang="cs-CZ" dirty="0"/>
            </a:br>
            <a:r>
              <a:rPr lang="cs-CZ" dirty="0"/>
              <a:t>ale obvykle pouze pokud je všechny položky ve struktuře / </a:t>
            </a:r>
            <a:r>
              <a:rPr lang="cs-CZ" dirty="0" err="1"/>
              <a:t>enumu</a:t>
            </a:r>
            <a:r>
              <a:rPr lang="cs-CZ" dirty="0"/>
              <a:t> rovněž implementují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0248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Na začátku běhu programu ty nejsložitější funkce zařídí námi použitý HAL (=vrstva pro abstrakci hardwaru) ve spolupráci s pevně zakódovanou logikou v čipu</a:t>
            </a:r>
          </a:p>
          <a:p>
            <a:endParaRPr lang="cs-CZ" dirty="0"/>
          </a:p>
          <a:p>
            <a:r>
              <a:rPr lang="cs-CZ" dirty="0"/>
              <a:t>Poté, co konečně získáme kontrolu nad čipem (HAL spustí naši hlavní funkci – </a:t>
            </a:r>
            <a:r>
              <a:rPr lang="cs-CZ" dirty="0" err="1"/>
              <a:t>main</a:t>
            </a:r>
            <a:r>
              <a:rPr lang="cs-CZ" dirty="0"/>
              <a:t>()), je potřeba: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Přepnout z výchozího, ale poměrně nepřesného časovače </a:t>
            </a:r>
            <a:r>
              <a:rPr lang="cs-CZ" dirty="0" err="1"/>
              <a:t>ROSC</a:t>
            </a:r>
            <a:r>
              <a:rPr lang="cs-CZ" dirty="0"/>
              <a:t> (prstenec hradel NOT) na krystalové hodiny </a:t>
            </a:r>
            <a:r>
              <a:rPr lang="cs-CZ" dirty="0" err="1"/>
              <a:t>XOSC</a:t>
            </a:r>
            <a:r>
              <a:rPr lang="cs-CZ" dirty="0"/>
              <a:t> (s externím krystalem)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Aktivovat a nastavit periferie I2C a </a:t>
            </a:r>
            <a:r>
              <a:rPr lang="cs-CZ" dirty="0" err="1"/>
              <a:t>UART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Připojit se k displeji přes sběrnici I2C a inicializovat ho pomocí funkcí poskytovaných ovladačem</a:t>
            </a:r>
            <a:br>
              <a:rPr lang="cs-CZ" dirty="0"/>
            </a:br>
            <a:r>
              <a:rPr lang="cs-CZ" dirty="0"/>
              <a:t>(snímek obrazovky z kódu ovladače vpravo)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Vytvořit datové struktury, které náš kód potřebuje, tedy struktury zásobníku a textového pole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Nakonec procesor vejde do nekonečné smyčky (ze které se nedostane jinak než restartem)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Přečte 1 bajt z rozhraní </a:t>
            </a:r>
            <a:r>
              <a:rPr lang="cs-CZ" dirty="0" err="1"/>
              <a:t>UART</a:t>
            </a:r>
            <a:r>
              <a:rPr lang="cs-CZ" dirty="0"/>
              <a:t> (čeká, dokud nějaký nedorazí) a převede ho na Unicode znak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Pomocí velkého výrazu </a:t>
            </a:r>
            <a:r>
              <a:rPr lang="cs-CZ" dirty="0" err="1"/>
              <a:t>match</a:t>
            </a:r>
            <a:r>
              <a:rPr lang="cs-CZ" dirty="0"/>
              <a:t> se rozhodne, jak se zachová podle toho, o </a:t>
            </a:r>
            <a:r>
              <a:rPr lang="cs-CZ"/>
              <a:t>jaký znak jde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5202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1D3B1A8A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8B2154FC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</a:t>
                </a:r>
                <a:r>
                  <a:rPr lang="cs-CZ" dirty="0" err="1"/>
                  <a:t>RPN</a:t>
                </a:r>
                <a:r>
                  <a:rPr lang="cs-CZ" dirty="0"/>
                  <a:t>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4×+ 5÷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218" y="0"/>
            <a:ext cx="4211782" cy="26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940D3-E158-1255-6253-DDC86DF07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pPr>
              <a:tabLst>
                <a:tab pos="1971675" algn="l"/>
              </a:tabLst>
            </a:pPr>
            <a:r>
              <a:rPr lang="cs-CZ" sz="5400" dirty="0" err="1"/>
              <a:t>Enum</a:t>
            </a:r>
            <a:r>
              <a:rPr lang="cs-CZ" sz="5400" dirty="0"/>
              <a:t>	/ˈ</a:t>
            </a:r>
            <a:r>
              <a:rPr lang="cs-CZ" sz="5400" dirty="0" err="1"/>
              <a:t>inʌm</a:t>
            </a:r>
            <a:r>
              <a:rPr lang="cs-CZ" sz="5400" dirty="0"/>
              <a:t>/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</p:spPr>
            <p:txBody>
              <a:bodyPr>
                <a:normAutofit/>
              </a:bodyPr>
              <a:lstStyle/>
              <a:p>
                <a:r>
                  <a:rPr lang="cs-CZ" sz="2200" dirty="0"/>
                  <a:t>Jinde: výčtový typ (fixní sada hodnot s identifikátory)</a:t>
                </a:r>
              </a:p>
              <a:p>
                <a:r>
                  <a:rPr lang="cs-CZ" sz="2200" dirty="0"/>
                  <a:t>Rust: disjunktní sjednocení množin hodnot</a:t>
                </a:r>
              </a:p>
              <a:p>
                <a:pPr lvl="1"/>
                <a:r>
                  <a:rPr lang="cs-CZ" sz="2000" dirty="0"/>
                  <a:t>Běžné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 2, 5, 10}</m:t>
                    </m:r>
                  </m:oMath>
                </a14:m>
                <a:endParaRPr lang="cs-CZ" sz="2000" dirty="0"/>
              </a:p>
              <a:p>
                <a:pPr lvl="1"/>
                <a:r>
                  <a:rPr lang="cs-CZ" sz="2000" dirty="0"/>
                  <a:t>Disjunktní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⊔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cs-CZ" sz="2000" dirty="0"/>
                  <a:t> </a:t>
                </a:r>
              </a:p>
              <a:p>
                <a:r>
                  <a:rPr lang="cs-CZ" sz="2200" dirty="0"/>
                  <a:t>Každá varianta </a:t>
                </a:r>
                <a:r>
                  <a:rPr lang="cs-CZ" sz="2200" dirty="0" err="1"/>
                  <a:t>enumu</a:t>
                </a:r>
                <a:r>
                  <a:rPr lang="cs-CZ" sz="2200" dirty="0"/>
                  <a:t> dokáže obsahovat další data</a:t>
                </a:r>
              </a:p>
              <a:p>
                <a:r>
                  <a:rPr lang="cs-CZ" sz="2200" dirty="0"/>
                  <a:t>Rozsáhlé využití při zacházení s chybami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  <a:blipFill>
                <a:blip r:embed="rId4"/>
                <a:stretch>
                  <a:fillRect l="-915" t="-2098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E57D732-8A3D-41DB-F70E-E13CE98B07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" t="9905" r="56040" b="2300"/>
          <a:stretch>
            <a:fillRect/>
          </a:stretch>
        </p:blipFill>
        <p:spPr>
          <a:xfrm>
            <a:off x="8633679" y="329183"/>
            <a:ext cx="2474537" cy="34299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761382-BF14-2CEB-D414-A505672C3A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" t="12605" r="34817" b="2986"/>
          <a:stretch>
            <a:fillRect/>
          </a:stretch>
        </p:blipFill>
        <p:spPr>
          <a:xfrm>
            <a:off x="8368600" y="4353511"/>
            <a:ext cx="3420093" cy="183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4126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4250-EC80-B686-0879-9FC018462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Vlastnictví a půjčování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ACF-B009-EEA3-F009-17084C1AB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27674"/>
          </a:xfrm>
        </p:spPr>
        <p:txBody>
          <a:bodyPr>
            <a:normAutofit/>
          </a:bodyPr>
          <a:lstStyle/>
          <a:p>
            <a:r>
              <a:rPr lang="cs-CZ" dirty="0"/>
              <a:t>Každá hodnota má jediného vlastníka</a:t>
            </a:r>
          </a:p>
          <a:p>
            <a:pPr lvl="1"/>
            <a:r>
              <a:rPr lang="cs-CZ" dirty="0"/>
              <a:t>Proměnná je přístupná pouze pro jejího vlastníka</a:t>
            </a:r>
          </a:p>
          <a:p>
            <a:pPr lvl="1"/>
            <a:r>
              <a:rPr lang="cs-CZ" dirty="0"/>
              <a:t>Přiřazení do jiné proměnné nebo parametru funkce předá vlastnictví</a:t>
            </a:r>
          </a:p>
          <a:p>
            <a:r>
              <a:rPr lang="cs-CZ" dirty="0"/>
              <a:t>Proměnné jsou ve výchozím stavu neměnné – klíčové slovo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mut</a:t>
            </a:r>
            <a:r>
              <a:rPr lang="cs-CZ" dirty="0"/>
              <a:t> </a:t>
            </a:r>
          </a:p>
          <a:p>
            <a:r>
              <a:rPr lang="cs-CZ" dirty="0"/>
              <a:t>Reference = ukazatele</a:t>
            </a:r>
          </a:p>
          <a:p>
            <a:pPr lvl="1"/>
            <a:r>
              <a:rPr lang="cs-CZ" dirty="0"/>
              <a:t>„Propůjčují“ danou hodnotu někomu jinému (nejčastěji funkci)</a:t>
            </a:r>
          </a:p>
          <a:p>
            <a:pPr lvl="1"/>
            <a:r>
              <a:rPr lang="cs-CZ" dirty="0"/>
              <a:t>Nikdy nesmí mít delší životnost než původní hodnota</a:t>
            </a:r>
          </a:p>
          <a:p>
            <a:pPr lvl="1"/>
            <a:r>
              <a:rPr lang="cs-CZ" dirty="0"/>
              <a:t>1 měnitelná reference, nebo nekonečno neměnných referencí</a:t>
            </a:r>
          </a:p>
          <a:p>
            <a:r>
              <a:rPr lang="cs-CZ" dirty="0"/>
              <a:t>Při skončení životnosti automaticky zavolán Drop</a:t>
            </a:r>
          </a:p>
          <a:p>
            <a:r>
              <a:rPr lang="cs-CZ" dirty="0"/>
              <a:t>Surové ukazatele přenáší zodpovědnost na programátora</a:t>
            </a:r>
          </a:p>
        </p:txBody>
      </p:sp>
    </p:spTree>
    <p:extLst>
      <p:ext uri="{BB962C8B-B14F-4D97-AF65-F5344CB8AC3E}">
        <p14:creationId xmlns:p14="http://schemas.microsoft.com/office/powerpoint/2010/main" val="3028556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5" y="2807208"/>
            <a:ext cx="5465065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„rys, vlastnost, příznak“</a:t>
            </a:r>
          </a:p>
          <a:p>
            <a:r>
              <a:rPr lang="cs-CZ" sz="2200" dirty="0"/>
              <a:t>Definují abstraktní chování datových typů</a:t>
            </a:r>
          </a:p>
          <a:p>
            <a:pPr lvl="1"/>
            <a:r>
              <a:rPr lang="cs-CZ" sz="2000" dirty="0"/>
              <a:t>Vlastnosti, metody (funkce na typy)</a:t>
            </a:r>
          </a:p>
          <a:p>
            <a:r>
              <a:rPr lang="cs-CZ" sz="2400" dirty="0"/>
              <a:t>Jeden </a:t>
            </a:r>
            <a:r>
              <a:rPr lang="cs-CZ" sz="2400" dirty="0" err="1"/>
              <a:t>trait</a:t>
            </a:r>
            <a:r>
              <a:rPr lang="cs-CZ" sz="2400" dirty="0"/>
              <a:t> může vyžadovat jiný </a:t>
            </a:r>
            <a:r>
              <a:rPr lang="cs-CZ" sz="2400" dirty="0" err="1"/>
              <a:t>trait</a:t>
            </a:r>
            <a:endParaRPr lang="cs-CZ" sz="2400" dirty="0"/>
          </a:p>
          <a:p>
            <a:r>
              <a:rPr lang="cs-CZ" sz="2200" dirty="0"/>
              <a:t>Funkce „univerzální“ přes různé typy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omezují generické parametry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655622" y="640080"/>
            <a:ext cx="490544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53ACE-5A18-0223-F078-F212AF8D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AF63F9-96E4-CAE6-8E27-BAD90F2D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 2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05A3046-89B3-C287-04D7-C746C39208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201392" y="1043156"/>
            <a:ext cx="6362250" cy="477168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A44BED2-120E-0B7F-D74E-A629CFE663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4570456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Přenositelné knihovny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poskytují jednotné rozhraní pro různé </a:t>
            </a:r>
            <a:r>
              <a:rPr lang="cs-CZ" sz="2000" dirty="0" err="1"/>
              <a:t>backendy</a:t>
            </a:r>
            <a:endParaRPr lang="cs-CZ" sz="2000" dirty="0"/>
          </a:p>
          <a:p>
            <a:pPr lvl="1"/>
            <a:r>
              <a:rPr lang="cs-CZ" sz="2000" dirty="0"/>
              <a:t>Knihovny pak mohou být psány oproti těmto rozhraním namísto konkrétních implementací</a:t>
            </a:r>
            <a:endParaRPr lang="cs-CZ" sz="2200" dirty="0"/>
          </a:p>
          <a:p>
            <a:r>
              <a:rPr lang="cs-CZ" sz="2200" dirty="0"/>
              <a:t>Příklad: </a:t>
            </a:r>
            <a:r>
              <a:rPr lang="cs-CZ" sz="2200" dirty="0" err="1">
                <a:highlight>
                  <a:srgbClr val="C0C0C0"/>
                </a:highlight>
              </a:rPr>
              <a:t>embedded</a:t>
            </a:r>
            <a:r>
              <a:rPr lang="cs-CZ" sz="2200" dirty="0">
                <a:highlight>
                  <a:srgbClr val="C0C0C0"/>
                </a:highlight>
              </a:rPr>
              <a:t>-hal</a:t>
            </a:r>
            <a:r>
              <a:rPr lang="cs-CZ" sz="2200" dirty="0"/>
              <a:t> (různé mikrořadiče, jedno rozhraní)</a:t>
            </a:r>
          </a:p>
        </p:txBody>
      </p:sp>
    </p:spTree>
    <p:extLst>
      <p:ext uri="{BB962C8B-B14F-4D97-AF65-F5344CB8AC3E}">
        <p14:creationId xmlns:p14="http://schemas.microsoft.com/office/powerpoint/2010/main" val="383589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7E7AA4-EFEC-4617-E1DF-3E0BA4706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Traity</a:t>
            </a:r>
            <a:r>
              <a:rPr lang="cs-CZ" dirty="0"/>
              <a:t>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717209-8749-396C-9CE4-92D63F733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Speciální, interní </a:t>
            </a:r>
            <a:r>
              <a:rPr lang="cs-CZ" dirty="0" err="1"/>
              <a:t>traity</a:t>
            </a:r>
            <a:endParaRPr lang="cs-CZ" dirty="0"/>
          </a:p>
          <a:p>
            <a:r>
              <a:rPr lang="cs-CZ" dirty="0" err="1">
                <a:highlight>
                  <a:srgbClr val="C0C0C0"/>
                </a:highlight>
              </a:rPr>
              <a:t>Clone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</a:rPr>
              <a:t>Copy</a:t>
            </a:r>
            <a:r>
              <a:rPr lang="cs-CZ" dirty="0"/>
              <a:t> – kopírování hodnot</a:t>
            </a:r>
          </a:p>
          <a:p>
            <a:r>
              <a:rPr lang="cs-CZ" dirty="0">
                <a:highlight>
                  <a:srgbClr val="C0C0C0"/>
                </a:highlight>
              </a:rPr>
              <a:t>Drop</a:t>
            </a:r>
            <a:r>
              <a:rPr lang="cs-CZ" dirty="0"/>
              <a:t> – zničení hodnot</a:t>
            </a:r>
          </a:p>
          <a:p>
            <a:r>
              <a:rPr lang="cs-CZ" dirty="0">
                <a:highlight>
                  <a:srgbClr val="C0C0C0"/>
                </a:highlight>
              </a:rPr>
              <a:t>Default</a:t>
            </a:r>
            <a:r>
              <a:rPr lang="cs-CZ" dirty="0"/>
              <a:t> – výchozí hodnota</a:t>
            </a:r>
          </a:p>
          <a:p>
            <a:r>
              <a:rPr lang="cs-CZ" dirty="0" err="1">
                <a:highlight>
                  <a:srgbClr val="C0C0C0"/>
                </a:highlight>
              </a:rPr>
              <a:t>PartialEq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</a:rPr>
              <a:t>Eq</a:t>
            </a:r>
            <a:r>
              <a:rPr lang="cs-CZ" dirty="0"/>
              <a:t> – operátor rovnosti </a:t>
            </a:r>
            <a:r>
              <a:rPr lang="cs-CZ" dirty="0">
                <a:highlight>
                  <a:srgbClr val="C0C0C0"/>
                </a:highlight>
              </a:rPr>
              <a:t>==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</a:rPr>
              <a:t>PartialOrd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</a:rPr>
              <a:t>Ord</a:t>
            </a:r>
            <a:r>
              <a:rPr lang="cs-CZ" dirty="0"/>
              <a:t> – operátory nerovnosti </a:t>
            </a:r>
            <a:r>
              <a:rPr lang="cs-CZ" dirty="0">
                <a:highlight>
                  <a:srgbClr val="C0C0C0"/>
                </a:highlight>
              </a:rPr>
              <a:t>&lt;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</a:rPr>
              <a:t>&lt;=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</a:rPr>
              <a:t>&gt;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</a:rPr>
              <a:t>&gt;=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</a:rPr>
              <a:t>Debug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</a:rPr>
              <a:t>Display</a:t>
            </a:r>
            <a:r>
              <a:rPr lang="cs-CZ" dirty="0"/>
              <a:t> – formátování na text</a:t>
            </a:r>
          </a:p>
          <a:p>
            <a:r>
              <a:rPr lang="cs-CZ" dirty="0"/>
              <a:t>Makro </a:t>
            </a:r>
            <a:r>
              <a:rPr lang="cs-CZ" dirty="0">
                <a:highlight>
                  <a:srgbClr val="C0C0C0"/>
                </a:highlight>
              </a:rPr>
              <a:t>#[derive(…)]</a:t>
            </a:r>
            <a:r>
              <a:rPr lang="cs-CZ" dirty="0"/>
              <a:t> – automatická implementace</a:t>
            </a:r>
          </a:p>
        </p:txBody>
      </p:sp>
    </p:spTree>
    <p:extLst>
      <p:ext uri="{BB962C8B-B14F-4D97-AF65-F5344CB8AC3E}">
        <p14:creationId xmlns:p14="http://schemas.microsoft.com/office/powerpoint/2010/main" val="59404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CC341-C25B-F877-D447-AF84B4A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Průběh programu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AB956-920E-CF3C-3578-10FABD0AC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cs-CZ" dirty="0"/>
              <a:t>Nejsložitější zařídí HAL a HW</a:t>
            </a:r>
          </a:p>
          <a:p>
            <a:r>
              <a:rPr lang="cs-CZ" dirty="0"/>
              <a:t>Inicializace – hodiny, periferie, datové struktury</a:t>
            </a:r>
          </a:p>
          <a:p>
            <a:r>
              <a:rPr lang="cs-CZ" dirty="0"/>
              <a:t>Nekonečná smyčka</a:t>
            </a:r>
          </a:p>
          <a:p>
            <a:endParaRPr lang="cs-CZ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7DF11-18E6-81EB-899D-30D875558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F6BF35-AA84-5EA3-E0FB-30180604E98F}"/>
              </a:ext>
            </a:extLst>
          </p:cNvPr>
          <p:cNvSpPr txBox="1"/>
          <p:nvPr/>
        </p:nvSpPr>
        <p:spPr>
          <a:xfrm>
            <a:off x="8951884" y="5955972"/>
            <a:ext cx="3028208" cy="64633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cs-CZ"/>
              <a:t>Setup, event loop</a:t>
            </a:r>
          </a:p>
          <a:p>
            <a:r>
              <a:rPr lang="cs-CZ"/>
              <a:t>modules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342174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3CDE-8F32-A485-10B4-FA031EFC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Desetinná čísla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5C0BB-C97C-4C65-9E4F-8751068C4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2103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CEB5-567A-56FC-A79D-8EBBE314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Ovládání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313B4-1167-5BFE-4914-AF8C4B665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242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5F07-92E8-AF88-403B-50025CB8E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Výsledek v akci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79220-6287-5881-E828-1F00E207B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8455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E017E-CF88-884F-B871-85FFD3A7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Osobní shrnutí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7471-F608-2CF7-AC14-186A540FD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059705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2369</TotalTime>
  <Words>2520</Words>
  <Application>Microsoft Office PowerPoint</Application>
  <PresentationFormat>Widescreen</PresentationFormat>
  <Paragraphs>238</Paragraphs>
  <Slides>16</Slides>
  <Notes>11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Consolas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Enum /ˈinʌm/</vt:lpstr>
      <vt:lpstr>Vlastnictví a půjčování</vt:lpstr>
      <vt:lpstr>Traity</vt:lpstr>
      <vt:lpstr>Traity 2</vt:lpstr>
      <vt:lpstr>Traity 3</vt:lpstr>
      <vt:lpstr>Průběh programu</vt:lpstr>
      <vt:lpstr>Desetinná čísla</vt:lpstr>
      <vt:lpstr>Ovládání</vt:lpstr>
      <vt:lpstr>Výsledek v akci</vt:lpstr>
      <vt:lpstr>Osobní shrnutí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245</cp:revision>
  <dcterms:created xsi:type="dcterms:W3CDTF">2026-03-24T10:48:56Z</dcterms:created>
  <dcterms:modified xsi:type="dcterms:W3CDTF">2026-04-03T11:20:08Z</dcterms:modified>
</cp:coreProperties>
</file>