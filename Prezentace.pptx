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2_6449AC5C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57" r:id="rId4"/>
    <p:sldId id="261" r:id="rId5"/>
    <p:sldId id="263" r:id="rId6"/>
    <p:sldId id="258" r:id="rId7"/>
    <p:sldId id="271" r:id="rId8"/>
    <p:sldId id="270" r:id="rId9"/>
    <p:sldId id="262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027075E-E1E5-2701-A4E4-E7D417A591B4}" name="Ondřej Běhal" initials="OB" userId="S::ondrej.behal@ms.krestanskegymnazium.cz::bb15c10f-1ace-45d6-9a30-85afa41deab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76259" autoAdjust="0"/>
  </p:normalViewPr>
  <p:slideViewPr>
    <p:cSldViewPr snapToGrid="0">
      <p:cViewPr varScale="1">
        <p:scale>
          <a:sx n="81" d="100"/>
          <a:sy n="81" d="100"/>
        </p:scale>
        <p:origin x="1632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87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omments/modernComment_102_6449AC5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FF0D791-3940-4B34-8101-6CFD4C392C6D}" authorId="{6027075E-E1E5-2701-A4E4-E7D417A591B4}" created="2026-03-29T14:51:12.76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82549852" sldId="258"/>
      <ac:spMk id="3" creationId="{0B755DE1-F317-B53D-6CE7-0FA95ABFEC55}"/>
      <ac:txMk cp="347" len="48">
        <ac:context len="396" hash="2375909780"/>
      </ac:txMk>
    </ac:txMkLst>
    <p188:pos x="5847608" y="3933907"/>
    <p188:txBody>
      <a:bodyPr/>
      <a:lstStyle/>
      <a:p>
        <a:r>
          <a:rPr lang="cs-CZ"/>
          <a:t>Možná vynechat</a:t>
        </a:r>
      </a:p>
    </p188:txBody>
  </p188:cm>
  <p188:cm id="{BF9AEFD2-8152-42FF-8785-86DD9765A672}" authorId="{6027075E-E1E5-2701-A4E4-E7D417A591B4}" created="2026-03-29T15:20:32.81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82549852" sldId="258"/>
      <ac:spMk id="3" creationId="{0B755DE1-F317-B53D-6CE7-0FA95ABFEC55}"/>
      <ac:txMk cp="15" len="9">
        <ac:context len="396" hash="2375909780"/>
      </ac:txMk>
    </ac:txMkLst>
    <p188:pos x="4196938" y="323809"/>
    <p188:txBody>
      <a:bodyPr/>
      <a:lstStyle/>
      <a:p>
        <a:r>
          <a:rPr lang="cs-CZ"/>
          <a:t>Technicky vzato víceúčelový, ale když prodáváš auto, nechlubíš se tím, že tě umí odvézt z bodu A do bodu B...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F5405-DF1B-4076-864B-7962BED0FCA9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74CA6-4D7F-431B-9614-EDAF6E1099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5416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Úvod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74CA6-4D7F-431B-9614-EDAF6E1099E6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276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Jak Krteček k projektu přišel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74CA6-4D7F-431B-9614-EDAF6E1099E6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1555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Vysvětlit jednoduše RPN, jaké jsou rozdíly proti běžné infixové notaci</a:t>
            </a:r>
          </a:p>
          <a:p>
            <a:r>
              <a:rPr lang="cs-CZ" dirty="0"/>
              <a:t>Ukázat příklady matematických výrazů, ukázat je přímo na kalkulačce, pokud je fyzicky přítomna</a:t>
            </a:r>
          </a:p>
          <a:p>
            <a:r>
              <a:rPr lang="cs-CZ" dirty="0"/>
              <a:t>Lze povídat i o historickém kontextu</a:t>
            </a:r>
          </a:p>
          <a:p>
            <a:endParaRPr lang="cs-CZ" dirty="0"/>
          </a:p>
          <a:p>
            <a:r>
              <a:rPr lang="cs-CZ" dirty="0"/>
              <a:t>Zdroj obrázku: https://calculator-museum.nl/?hp-12c25thanniversary ; https://calculator-museum.nl/calculators/pictures/hp-12c25thanniversary.png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74CA6-4D7F-431B-9614-EDAF6E1099E6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66362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Rust.</a:t>
            </a:r>
          </a:p>
          <a:p>
            <a:endParaRPr lang="cs-CZ" dirty="0"/>
          </a:p>
          <a:p>
            <a:r>
              <a:rPr lang="cs-CZ" dirty="0"/>
              <a:t>Rust je moderní (2015) systémový programovací jazyk. Sám se označuje jako „bleskurychlý“, s „neohroženou souběžností“, slibuje „dokonalou paměťovou bezpečnost“ a další vznešené vlastnosti.</a:t>
            </a:r>
          </a:p>
          <a:p>
            <a:r>
              <a:rPr lang="cs-CZ" dirty="0"/>
              <a:t>Pochopitelně to </a:t>
            </a:r>
          </a:p>
          <a:p>
            <a:r>
              <a:rPr lang="cs-CZ" dirty="0"/>
              <a:t>&lt;evangelizující fanoušci&gt;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74CA6-4D7F-431B-9614-EDAF6E1099E6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7162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Rust je moderní systémový programovací jazyk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Relativně </a:t>
            </a:r>
            <a:r>
              <a:rPr lang="cs-CZ" dirty="0" err="1"/>
              <a:t>nízkoúrovňový</a:t>
            </a:r>
            <a:r>
              <a:rPr lang="cs-CZ" dirty="0"/>
              <a:t> – sice na absolutní škále vysokoúrovňový, ale vzhledem k jiným jazykům stále blíže k hardwaru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Výkonný – politika abstrakce bez dopadu na výkon ("manuálně bys to nenapsal lépe")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Díky odstupu času byl schopen vidět, co v jiných jazycích nefunguje a co udělat jinak / lépe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cs-CZ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cs-CZ" dirty="0"/>
              <a:t>Do samého jádra jazyka je integrován statický analyzátor nazývaný „</a:t>
            </a:r>
            <a:r>
              <a:rPr lang="cs-CZ" dirty="0" err="1"/>
              <a:t>borrow</a:t>
            </a:r>
            <a:r>
              <a:rPr lang="cs-CZ" dirty="0"/>
              <a:t> checker“, který implementuje koncept vlastnictví a půjčování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i="0" dirty="0"/>
              <a:t>Vlastnictví a půjčování popsán dále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i="1" dirty="0"/>
              <a:t>Již během kompilace</a:t>
            </a:r>
            <a:r>
              <a:rPr lang="cs-CZ" i="0" dirty="0"/>
              <a:t> zajišťuje platnost ukazatelů a bezpečné přístupy k paměti bez dopadů na výkon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i="0" dirty="0"/>
              <a:t>    Oproti tomu „sběr odpadu“ (</a:t>
            </a:r>
            <a:r>
              <a:rPr lang="cs-CZ" i="0" dirty="0" err="1"/>
              <a:t>GC</a:t>
            </a:r>
            <a:r>
              <a:rPr lang="cs-CZ" i="0" dirty="0"/>
              <a:t>) je nedeterministický a obecně škodí výkonu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i="0" dirty="0"/>
              <a:t>„Pokud se to zkompiluje, tak to poběží.“ / „Pokládá právě tolik (pomyslných) dopravních kuželů / bariér, aby člověku zabránil brát zkratky.“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cs-CZ" i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cs-CZ" dirty="0"/>
              <a:t>Jednoduchá, jednotná a explicitní práce s chybami, kdy chyby jsou reprezentovány jednoduše jako hodnoty pomocí algebraických datových typů (</a:t>
            </a:r>
            <a:r>
              <a:rPr lang="cs-CZ" dirty="0" err="1"/>
              <a:t>enumů</a:t>
            </a:r>
            <a:r>
              <a:rPr lang="cs-CZ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 err="1"/>
              <a:t>Enum</a:t>
            </a:r>
            <a:r>
              <a:rPr lang="cs-CZ" dirty="0"/>
              <a:t> je disjunktní sjednocení – popsáno dále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Žádné zapomenuté kontroly nulového ukazatele; typový systém jasně stanovuje, zda je chyba možná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Nemáme 20 různých vzájemně nekompatibilních způsobů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cs-CZ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cs-CZ" dirty="0"/>
              <a:t>Generické programování =&gt; jeden kód dokáže pracovat s různými datovými typy, omezuje zbytečnou duplikaci kódu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Systém </a:t>
            </a:r>
            <a:r>
              <a:rPr lang="cs-CZ" dirty="0" err="1"/>
              <a:t>traitů</a:t>
            </a:r>
            <a:r>
              <a:rPr lang="cs-CZ" dirty="0"/>
              <a:t> popsán dále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cs-CZ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cs-CZ" dirty="0"/>
              <a:t>Jednotný a kvalitní systém pro kompilaci </a:t>
            </a:r>
            <a:r>
              <a:rPr lang="cs-CZ" dirty="0" err="1"/>
              <a:t>Cargo</a:t>
            </a:r>
            <a:endParaRPr lang="cs-CZ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Který zároveň figuruje jako správce balíčků (program spravující knihovny, na kterých náš projekt závisí, jejich verze, a který je dokáže automaticky stáhnout z centrálního úložiště)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Velmi dobře čitelné chybové hlášky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cs-CZ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cs-CZ" dirty="0"/>
              <a:t>Od roku 2016 je každoročně „nejmilovanějším“ jazykem podle průzkumů společnosti </a:t>
            </a:r>
            <a:r>
              <a:rPr lang="cs-CZ" dirty="0" err="1"/>
              <a:t>Stack</a:t>
            </a:r>
            <a:r>
              <a:rPr lang="cs-CZ" dirty="0"/>
              <a:t> </a:t>
            </a:r>
            <a:r>
              <a:rPr lang="cs-CZ" dirty="0" err="1"/>
              <a:t>Overflow</a:t>
            </a:r>
            <a:r>
              <a:rPr lang="cs-CZ" dirty="0"/>
              <a:t>, tzn. největší procento respondentů, kteří ho v nedávné minulosti používali, by ho rádi používali nadále.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cs-CZ" dirty="0"/>
          </a:p>
          <a:p>
            <a:pPr marL="0" indent="0">
              <a:buFont typeface="Arial" panose="020B0604020202020204" pitchFamily="34" charset="0"/>
              <a:buNone/>
            </a:pPr>
            <a:endParaRPr lang="cs-CZ" dirty="0"/>
          </a:p>
          <a:p>
            <a:r>
              <a:rPr lang="cs-CZ" dirty="0"/>
              <a:t>Zdroj obrázku: https://rust-lang.org/static/images/rust-logo-blk.svg / https://rustfoundation.org/policy/rust-trademark-policy/#do-not-require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74CA6-4D7F-431B-9614-EDAF6E1099E6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5636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err="1"/>
              <a:t>Enum</a:t>
            </a:r>
            <a:r>
              <a:rPr lang="cs-CZ" dirty="0"/>
              <a:t>, česky také „výčtový typ“, je datový typ, ve kterém programátor specifikuje konečnou množinu hodnot, kterých smí nabývat.</a:t>
            </a:r>
          </a:p>
          <a:p>
            <a:r>
              <a:rPr lang="cs-CZ" dirty="0"/>
              <a:t>Každé hodnotě je běžně přiřazen textový identifikátor (a interní číselná reprezentace), který lze dále používat v kódu.</a:t>
            </a:r>
          </a:p>
          <a:p>
            <a:r>
              <a:rPr lang="cs-CZ" dirty="0"/>
              <a:t>Na vrchním obrázku je příklad definice takovéhoto výčtu v jazyce C.</a:t>
            </a:r>
          </a:p>
          <a:p>
            <a:endParaRPr lang="cs-CZ" dirty="0"/>
          </a:p>
          <a:p>
            <a:r>
              <a:rPr lang="cs-CZ" dirty="0"/>
              <a:t>V jazyce Rust ale dokáží </a:t>
            </a:r>
            <a:r>
              <a:rPr lang="cs-CZ" dirty="0" err="1"/>
              <a:t>enumy</a:t>
            </a:r>
            <a:r>
              <a:rPr lang="cs-CZ" dirty="0"/>
              <a:t> mnohem více: jedná se o disjunktní sjednocení. To znamená, že je tvořen několika množinami hodnot,</a:t>
            </a:r>
          </a:p>
          <a:p>
            <a:r>
              <a:rPr lang="cs-CZ" dirty="0"/>
              <a:t>a dokáže nabývat jakékoli z nich, ale rozlišuje stejné hodnoty z jiných množin.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Na příkladu zde je vidět, že když tyto dvě množiny hodnot obsahují hodnotu 2, tak běžné sjednocení by ji nerozlišovalo,</a:t>
            </a:r>
            <a:br>
              <a:rPr lang="cs-CZ" dirty="0"/>
            </a:br>
            <a:r>
              <a:rPr lang="cs-CZ" dirty="0"/>
              <a:t>ale disjunktní sjednocení rozlišuje mezi 2 z množiny A </a:t>
            </a:r>
            <a:r>
              <a:rPr lang="cs-CZ" dirty="0" err="1"/>
              <a:t>a</a:t>
            </a:r>
            <a:r>
              <a:rPr lang="cs-CZ" dirty="0"/>
              <a:t> 2 z množiny 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V praxi je to využíváno tak, že každá varianta </a:t>
            </a:r>
            <a:r>
              <a:rPr lang="cs-CZ" dirty="0" err="1"/>
              <a:t>enumu</a:t>
            </a:r>
            <a:r>
              <a:rPr lang="cs-CZ" dirty="0"/>
              <a:t> se skládá nejen z identifikátoru,</a:t>
            </a:r>
            <a:br>
              <a:rPr lang="cs-CZ" dirty="0"/>
            </a:br>
            <a:r>
              <a:rPr lang="cs-CZ" dirty="0"/>
              <a:t>ale volitelně i z jednoho nebo více datového typů, které pak daná varianta bude obsahovat.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Na spodním obrázku je příklad definice takového </a:t>
            </a:r>
            <a:r>
              <a:rPr lang="cs-CZ" dirty="0" err="1"/>
              <a:t>enumu</a:t>
            </a:r>
            <a:r>
              <a:rPr lang="cs-CZ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cs-CZ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cs-CZ" dirty="0"/>
              <a:t>Rust hojně využívá </a:t>
            </a:r>
            <a:r>
              <a:rPr lang="cs-CZ" dirty="0" err="1"/>
              <a:t>enumy</a:t>
            </a:r>
            <a:r>
              <a:rPr lang="cs-CZ" dirty="0"/>
              <a:t> pro práci s chybami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Data, která jsou navrácena při úspěchu, jsou obsažena ve variantě Ok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Data navrácena při chybě (označující nejčastěji druh chyby, ke které došlo) jsou obsažena ve variantě </a:t>
            </a:r>
            <a:r>
              <a:rPr lang="cs-CZ" dirty="0" err="1"/>
              <a:t>Err</a:t>
            </a:r>
            <a:endParaRPr lang="cs-CZ" dirty="0"/>
          </a:p>
          <a:p>
            <a:pPr marL="0" indent="0">
              <a:buFont typeface="Arial" panose="020B0604020202020204" pitchFamily="34" charset="0"/>
              <a:buNone/>
            </a:pPr>
            <a:endParaRPr lang="cs-CZ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cs-CZ" dirty="0"/>
              <a:t>Zdroje obrázků: vlastní tvorba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74CA6-4D7F-431B-9614-EDAF6E1099E6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9682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Základní „teze“ </a:t>
            </a:r>
            <a:r>
              <a:rPr lang="cs-CZ" dirty="0" err="1"/>
              <a:t>borrow</a:t>
            </a:r>
            <a:r>
              <a:rPr lang="cs-CZ" dirty="0"/>
              <a:t> </a:t>
            </a:r>
            <a:r>
              <a:rPr lang="cs-CZ" dirty="0" err="1"/>
              <a:t>checkeru</a:t>
            </a:r>
            <a:r>
              <a:rPr lang="cs-CZ" dirty="0"/>
              <a:t> jsou následující:</a:t>
            </a:r>
          </a:p>
          <a:p>
            <a:endParaRPr lang="cs-CZ" dirty="0"/>
          </a:p>
          <a:p>
            <a:r>
              <a:rPr lang="cs-CZ" dirty="0"/>
              <a:t>Každá hodnota má svého jediného vlastníka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74CA6-4D7F-431B-9614-EDAF6E1099E6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1771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 err="1"/>
              <a:t>Traity</a:t>
            </a:r>
            <a:r>
              <a:rPr lang="cs-CZ" dirty="0"/>
              <a:t>, česky „rysy“, „vlastnosti“ nebo „příznaky“, definují abstraktní chování datových typů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cs-CZ" dirty="0"/>
              <a:t>Implementace daného </a:t>
            </a:r>
            <a:r>
              <a:rPr lang="cs-CZ" dirty="0" err="1"/>
              <a:t>traitu</a:t>
            </a:r>
            <a:r>
              <a:rPr lang="cs-CZ" dirty="0"/>
              <a:t> garantuje, že daný typ má určité vlastnosti a implementuje určité metody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cs-CZ" dirty="0"/>
              <a:t>    (metody = funkce pracující s daty uvnitř daného typu, nejčastěji struktury, asociované s daným typem)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cs-CZ" dirty="0"/>
              <a:t>Chování je u všech typů implementujících daný </a:t>
            </a:r>
            <a:r>
              <a:rPr lang="cs-CZ" dirty="0" err="1"/>
              <a:t>trait</a:t>
            </a:r>
            <a:r>
              <a:rPr lang="cs-CZ" dirty="0"/>
              <a:t> sémanticky stejné, i když samotné implementace v kódu se mohou lišit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cs-CZ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cs-CZ" dirty="0"/>
              <a:t>Využití 1: Funkce „univerzální“ (přesněji řečeno generické) přes různé typy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cs-CZ" dirty="0"/>
              <a:t>Některé operace na určitých typech prostě nedávají smysl: </a:t>
            </a:r>
            <a:r>
              <a:rPr lang="pt-BR" dirty="0"/>
              <a:t>nelze se doptávat na 5. prvek v</a:t>
            </a:r>
            <a:r>
              <a:rPr lang="cs-CZ" dirty="0"/>
              <a:t> </a:t>
            </a:r>
            <a:r>
              <a:rPr lang="cs-CZ" dirty="0" err="1"/>
              <a:t>booleanu</a:t>
            </a:r>
            <a:endParaRPr lang="cs-CZ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cs-CZ" dirty="0" err="1"/>
              <a:t>Traity</a:t>
            </a:r>
            <a:r>
              <a:rPr lang="cs-CZ" dirty="0"/>
              <a:t> pomáhají omezovat generické parametry na pouze ty typy, které mají určité vlastnosti, které daná funkce vyžaduje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cs-CZ" dirty="0"/>
              <a:t>Příklad na obrázku: funkce nemůže přijmout zcela jakýkoli typ, ale pouze takový, který lze porovnávat (</a:t>
            </a:r>
            <a:r>
              <a:rPr lang="cs-CZ" dirty="0" err="1"/>
              <a:t>trait</a:t>
            </a:r>
            <a:r>
              <a:rPr lang="cs-CZ" dirty="0"/>
              <a:t> </a:t>
            </a:r>
            <a:r>
              <a:rPr lang="cs-CZ" dirty="0" err="1"/>
              <a:t>PartialOrd</a:t>
            </a:r>
            <a:r>
              <a:rPr lang="cs-CZ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cs-CZ" dirty="0"/>
          </a:p>
          <a:p>
            <a:r>
              <a:rPr lang="cs-CZ" dirty="0"/>
              <a:t>Zdroj obrázku: vlastní, pomocí https://carbon.now.sh/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74CA6-4D7F-431B-9614-EDAF6E1099E6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5332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85223-D280-3EF6-1CA1-BC09051B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593B5-15A7-CBB4-FC12-BEFB26DB8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3F266-B512-1109-6F8B-B19BC4EE2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cs-CZ" dirty="0"/>
              <a:t>Využití 2: jednotné rozhraní pro knihovny (drivery atd.)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Některé knihovny (typicky ovladače v </a:t>
            </a:r>
            <a:r>
              <a:rPr lang="cs-CZ" dirty="0" err="1"/>
              <a:t>embedded</a:t>
            </a:r>
            <a:r>
              <a:rPr lang="cs-CZ" dirty="0"/>
              <a:t> sféře) potřebují být přenositelné přes mnoho různých </a:t>
            </a:r>
            <a:r>
              <a:rPr lang="cs-CZ" dirty="0" err="1"/>
              <a:t>backendů</a:t>
            </a:r>
            <a:endParaRPr lang="cs-CZ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 err="1"/>
              <a:t>Traity</a:t>
            </a:r>
            <a:r>
              <a:rPr lang="cs-CZ" dirty="0"/>
              <a:t> mohou být tímto „styčným bodem“, umožňujícím </a:t>
            </a:r>
            <a:r>
              <a:rPr lang="cs-CZ" dirty="0" err="1"/>
              <a:t>backendům</a:t>
            </a:r>
            <a:r>
              <a:rPr lang="cs-CZ" dirty="0"/>
              <a:t> abstrahovat své fungování do jednotných rozhraní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Knihovny pak mohou cílit na toto jednotné rozhraní a tak podporovat jakýkoli </a:t>
            </a:r>
            <a:r>
              <a:rPr lang="cs-CZ" dirty="0" err="1"/>
              <a:t>backend</a:t>
            </a:r>
            <a:r>
              <a:rPr lang="cs-CZ" dirty="0"/>
              <a:t>, který toto rozhraní implementuje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cs-CZ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cs-CZ" dirty="0"/>
              <a:t>Například v našem projektu jsme použili knihovnu </a:t>
            </a:r>
            <a:r>
              <a:rPr lang="cs-CZ" dirty="0" err="1"/>
              <a:t>embedded</a:t>
            </a:r>
            <a:r>
              <a:rPr lang="cs-CZ" dirty="0"/>
              <a:t>-hal, která sama o sobě pouze poskytuje </a:t>
            </a:r>
            <a:r>
              <a:rPr lang="cs-CZ" dirty="0" err="1"/>
              <a:t>traity</a:t>
            </a:r>
            <a:r>
              <a:rPr lang="cs-CZ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cs-CZ" dirty="0"/>
              <a:t>Konkrétní HAL (vrstvy pro abstrakci hardwaru) pak implementují tyto </a:t>
            </a:r>
            <a:r>
              <a:rPr lang="cs-CZ" dirty="0" err="1"/>
              <a:t>traity</a:t>
            </a:r>
            <a:r>
              <a:rPr lang="cs-CZ" dirty="0"/>
              <a:t> na svých strukturách poskytujících přístup k hardwaru,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cs-CZ" dirty="0"/>
              <a:t>a ovladače pro periferie mohou psát své funkce generické přes tyto stejné </a:t>
            </a:r>
            <a:r>
              <a:rPr lang="cs-CZ" dirty="0" err="1"/>
              <a:t>traity</a:t>
            </a:r>
            <a:r>
              <a:rPr lang="cs-CZ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cs-CZ" dirty="0"/>
              <a:t>Každý ovladač je pak schopen běžet na každé HAL bez potíží.</a:t>
            </a:r>
          </a:p>
          <a:p>
            <a:endParaRPr lang="cs-CZ" dirty="0"/>
          </a:p>
          <a:p>
            <a:r>
              <a:rPr lang="cs-CZ" dirty="0"/>
              <a:t>Zdroj obrázku: </a:t>
            </a:r>
            <a:r>
              <a:rPr lang="cs-CZ" dirty="0" err="1"/>
              <a:t>Gemini</a:t>
            </a:r>
            <a:r>
              <a:rPr lang="cs-CZ" dirty="0"/>
              <a:t> 3.1 Pro (2.4.2026)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16A58-DEF8-805F-E932-8A08E9957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74CA6-4D7F-431B-9614-EDAF6E1099E6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4475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2E14DC-341B-17C7-3A17-0634DF969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40F2C05-9472-B5BB-C39F-4D32B168A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9C04C81-4B68-D9F4-29B6-39C93A515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3673-CB33-4FFC-8C38-E9A4E5339B0B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9DD4BE3-D84B-CD98-C689-BC3590949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D2C5620-01F3-725F-5599-4BE11527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09B4-35A1-437C-A811-C2D82457E7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2936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84068D-6737-096C-A630-39E0BC526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B85160-40B1-C214-1533-32BA1974E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25EDCA7-8870-2563-0465-4B2F7CB15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3673-CB33-4FFC-8C38-E9A4E5339B0B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96D8540-537C-D6C9-7A45-F39FF9C4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C662603-8AE6-76FF-3172-59FF5E40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09B4-35A1-437C-A811-C2D82457E7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970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C7AAA1-444F-B953-5B21-3D8BFC21E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75F81BB-699F-8E86-345B-1BC0BF956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1C39D07-7C25-0725-E691-B1CB338A4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3673-CB33-4FFC-8C38-E9A4E5339B0B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6C664D4-164B-C3D4-F360-58478349A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BFEC52B-D068-9FEE-A6A1-9C278D93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09B4-35A1-437C-A811-C2D82457E7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092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E1B86B-B70D-EFC3-3AD7-A29EDFF0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AE3184-FD26-F48A-1FA8-9E1EBAAC7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44D3B06-7B3C-19A4-CD55-7824B0822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A35220D-B3EC-058F-1678-CB0DA0368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3673-CB33-4FFC-8C38-E9A4E5339B0B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B71856C-E0A1-453D-2E50-5FF2C7D36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598EBAE-93F1-5D31-ECDC-40C774999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09B4-35A1-437C-A811-C2D82457E7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8213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930D8B-2511-0884-C232-4C68AEC35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76654E-7367-B090-3B89-F7AABAB44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9A39560-436D-BA81-9B8D-F7E23BAAB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10224AF-6001-2B11-547D-DF67050DC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572EA31-3752-3279-3189-332240E93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ED57C7C3-7C20-E0DF-ABF5-28DAF1DB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3673-CB33-4FFC-8C38-E9A4E5339B0B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868574FA-8365-9305-47A7-D94FFE714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5A69781-813D-28E3-C830-D62D11F3D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09B4-35A1-437C-A811-C2D82457E7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93304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BC724B-B342-F9B8-F731-F10E5791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EDD4E031-3E0E-B462-20B0-959DBC4E4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3673-CB33-4FFC-8C38-E9A4E5339B0B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9205EF7-C433-9334-9A69-38F47E5E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A45553B-EF95-ACC4-1D83-01C2D33C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09B4-35A1-437C-A811-C2D82457E7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9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3D0C52D-D42D-06AA-8E41-93BABE789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3673-CB33-4FFC-8C38-E9A4E5339B0B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E23F909-847D-B598-73D4-5DD485F7A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9CBA90E-2D9A-265D-943E-4130D165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09B4-35A1-437C-A811-C2D82457E7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504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B64919-57C4-FDF3-94AE-FBA6C4362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DFDECE9-C358-C77B-8818-66EE93EBF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7016BE2-B814-40D2-DE3A-F21406D10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D566EB5-0C8B-3A65-9C52-36CA38B03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3673-CB33-4FFC-8C38-E9A4E5339B0B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0AEB5B2-4A5C-D0DE-351C-CA3D0C5D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C80A147-71FB-A659-42C9-79CFB43C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09B4-35A1-437C-A811-C2D82457E7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378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8EB971-D159-6416-0039-3C6A9217A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94840240-801F-3F1C-6E88-8E6015244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5C24D53-D1EC-2F41-E024-B660DBB2F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69A0865-D710-F5C3-7203-53BA0DEAE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3673-CB33-4FFC-8C38-E9A4E5339B0B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D7315EC-212E-80BB-94B2-7B57297E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F59B708-410B-B9F6-8350-64A6BCB4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09B4-35A1-437C-A811-C2D82457E7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53513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5718CF-384F-FD7F-7152-28AAF3A5E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51E4027-0119-59EF-755E-8F41E2A93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8025D34-5ED4-215F-4DDC-04EB2D51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3673-CB33-4FFC-8C38-E9A4E5339B0B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48514CA-2CA2-A5BE-0EF6-A7163F9D2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29E03C8-B034-F55F-F7DB-4DC86AEF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09B4-35A1-437C-A811-C2D82457E7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184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C7F227F-70A8-369B-629F-1E6556FDA0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05ECDC8-CB57-AF1C-3A79-B42557A98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A771BA8-9891-5785-0AE4-D7BABDBED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3673-CB33-4FFC-8C38-E9A4E5339B0B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8ABBE1E-0E4A-FA91-6A19-2D0EEBE14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311774F-BFB7-7E6C-06E6-BA05ACB0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09B4-35A1-437C-A811-C2D82457E7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1990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49A5DC7-47D3-6381-D6FF-F5158EBDD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E9BF764-6C4F-F24A-FFAA-F541A407D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B60840-3CC7-AE63-29A9-E027866E8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8D3673-CB33-4FFC-8C38-E9A4E5339B0B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D6D2308-B720-4E9F-55D4-4EF744E93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17881AC-861F-C33D-DF8A-89012FB43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C09B4-35A1-437C-A811-C2D82457E7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475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6449AC5C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A662A3-29D5-03EE-CECF-466324BB7A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Kalkulačka v postfixové notaci na čipu RP2040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C1D2AE8-0634-AB3F-B897-BA5DDD296E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Maturitní práce z informatiky</a:t>
            </a:r>
          </a:p>
          <a:p>
            <a:r>
              <a:rPr lang="cs-CZ" dirty="0"/>
              <a:t>Ondřej Běhal, oktáva B, 2025/26</a:t>
            </a:r>
          </a:p>
        </p:txBody>
      </p:sp>
    </p:spTree>
    <p:extLst>
      <p:ext uri="{BB962C8B-B14F-4D97-AF65-F5344CB8AC3E}">
        <p14:creationId xmlns:p14="http://schemas.microsoft.com/office/powerpoint/2010/main" val="1457143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6F417-4380-1BB1-4BF1-4CB56BDC3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Výběr tématu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B7F35-A90D-90D9-7179-FF8F2DAB6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Aaa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87054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091427-C544-9E66-4423-738E77C10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Postfixová notace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B1602BE8-CBE5-2907-58DD-610B58BA3E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cs-CZ" dirty="0"/>
                  <a:t>= zpětná polská notace (</a:t>
                </a:r>
                <a:r>
                  <a:rPr lang="cs-CZ" dirty="0" err="1"/>
                  <a:t>RPN</a:t>
                </a:r>
                <a:r>
                  <a:rPr lang="cs-CZ" dirty="0"/>
                  <a:t>)</a:t>
                </a:r>
              </a:p>
              <a:p>
                <a:r>
                  <a:rPr lang="cs-CZ" dirty="0"/>
                  <a:t>Operátory psány </a:t>
                </a:r>
                <a:r>
                  <a:rPr lang="cs-CZ" i="1" dirty="0"/>
                  <a:t>za</a:t>
                </a:r>
                <a:r>
                  <a:rPr lang="cs-CZ" dirty="0"/>
                  <a:t> operandy, ne </a:t>
                </a:r>
                <a:r>
                  <a:rPr lang="cs-CZ" i="1" dirty="0"/>
                  <a:t>mezi</a:t>
                </a:r>
                <a:r>
                  <a:rPr lang="cs-CZ" dirty="0"/>
                  <a:t> </a:t>
                </a:r>
              </a:p>
              <a:p>
                <a:r>
                  <a:rPr lang="cs-CZ" dirty="0"/>
                  <a:t>Bez závorek; jednodušší (pro počítače)</a:t>
                </a:r>
              </a:p>
              <a:p>
                <a:pPr marL="0" indent="0">
                  <a:buNone/>
                  <a:tabLst>
                    <a:tab pos="4308475" algn="l"/>
                  </a:tabLst>
                </a:pPr>
                <a14:m>
                  <m:oMath xmlns:m="http://schemas.openxmlformats.org/officeDocument/2006/math">
                    <m:r>
                      <a:rPr lang="cs-CZ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cs-CZ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cs-CZ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cs-CZ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cs-CZ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cs-CZ" dirty="0"/>
                  <a:t> 	</a:t>
                </a:r>
                <a14:m>
                  <m:oMath xmlns:m="http://schemas.openxmlformats.org/officeDocument/2006/math">
                    <m:r>
                      <a:rPr lang="cs-CZ" i="1">
                        <a:latin typeface="Cambria Math" panose="02040503050406030204" pitchFamily="18" charset="0"/>
                      </a:rPr>
                      <m:t>⇒1 2 3</m:t>
                    </m:r>
                    <m:r>
                      <a:rPr lang="cs-CZ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cs-CZ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cs-CZ" dirty="0"/>
              </a:p>
              <a:p>
                <a:pPr marL="0" indent="0">
                  <a:buNone/>
                  <a:tabLst>
                    <a:tab pos="4308475" algn="l"/>
                  </a:tabLst>
                </a:pPr>
                <a14:m>
                  <m:oMath xmlns:m="http://schemas.openxmlformats.org/officeDocument/2006/math">
                    <m:d>
                      <m:dPr>
                        <m:ctrlPr>
                          <a:rPr lang="cs-CZ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1+2</m:t>
                        </m:r>
                      </m:e>
                    </m:d>
                    <m:r>
                      <a:rPr lang="cs-CZ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cs-CZ" dirty="0"/>
                  <a:t> 	</a:t>
                </a:r>
                <a14:m>
                  <m:oMath xmlns:m="http://schemas.openxmlformats.org/officeDocument/2006/math">
                    <m:r>
                      <a:rPr lang="cs-CZ" i="1">
                        <a:latin typeface="Cambria Math" panose="02040503050406030204" pitchFamily="18" charset="0"/>
                      </a:rPr>
                      <m:t>⇒1 2+3</m:t>
                    </m:r>
                    <m:r>
                      <a:rPr lang="cs-CZ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cs-CZ" dirty="0"/>
                  <a:t> </a:t>
                </a:r>
              </a:p>
              <a:p>
                <a:pPr marL="0" indent="0">
                  <a:buNone/>
                  <a:tabLst>
                    <a:tab pos="4308475" algn="l"/>
                  </a:tabLst>
                </a:pPr>
                <a14:m>
                  <m:oMath xmlns:m="http://schemas.openxmlformats.org/officeDocument/2006/math">
                    <m:d>
                      <m:dPr>
                        <m:ctrlPr>
                          <a:rPr lang="cs-CZ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cs-CZ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cs-CZ" b="0" i="1" smtClean="0">
                                <a:latin typeface="Cambria Math" panose="02040503050406030204" pitchFamily="18" charset="0"/>
                              </a:rPr>
                              <m:t>2+3</m:t>
                            </m:r>
                          </m:e>
                        </m:d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cs-CZ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cs-CZ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cs-CZ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×4</m:t>
                            </m:r>
                          </m:e>
                        </m:d>
                      </m:e>
                    </m:d>
                    <m:r>
                      <a:rPr lang="cs-CZ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÷5</m:t>
                    </m:r>
                  </m:oMath>
                </a14:m>
                <a:r>
                  <a:rPr lang="cs-CZ" dirty="0"/>
                  <a:t> 	</a:t>
                </a:r>
                <a14:m>
                  <m:oMath xmlns:m="http://schemas.openxmlformats.org/officeDocument/2006/math">
                    <m:r>
                      <a:rPr lang="cs-CZ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⇒2 3+5 4×+ 5÷</m:t>
                    </m:r>
                  </m:oMath>
                </a14:m>
                <a:endParaRPr lang="cs-CZ" dirty="0"/>
              </a:p>
              <a:p>
                <a:pPr marL="0" indent="0">
                  <a:buNone/>
                </a:pPr>
                <a:endParaRPr lang="cs-CZ" dirty="0"/>
              </a:p>
            </p:txBody>
          </p:sp>
        </mc:Choice>
        <mc:Fallback xmlns="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B1602BE8-CBE5-2907-58DD-610B58BA3E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P 12C Platinum 25th Anniversary Edition">
            <a:extLst>
              <a:ext uri="{FF2B5EF4-FFF2-40B4-BE49-F238E27FC236}">
                <a16:creationId xmlns:a16="http://schemas.microsoft.com/office/drawing/2014/main" id="{DB5B7F64-9BBB-9D58-C84A-23491A29C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218" y="0"/>
            <a:ext cx="4211782" cy="269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697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F3CF4E-295C-DF36-8D39-9F00FE8DB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68"/>
          <a:stretch>
            <a:fillRect/>
          </a:stretch>
        </p:blipFill>
        <p:spPr>
          <a:xfrm rot="369497">
            <a:off x="4055744" y="2998963"/>
            <a:ext cx="5080000" cy="39342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60781E-0EED-EA99-93D6-14C9A393ED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1"/>
          <a:stretch>
            <a:fillRect/>
          </a:stretch>
        </p:blipFill>
        <p:spPr>
          <a:xfrm rot="21175835">
            <a:off x="254000" y="247649"/>
            <a:ext cx="4187439" cy="43586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680142-C4A9-51ED-20F5-9C554CD749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05470">
            <a:off x="9332112" y="3573306"/>
            <a:ext cx="2586991" cy="25869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B71CE3-BED5-C277-A71B-B062DE1604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2" t="1385" r="4086" b="1736"/>
          <a:stretch>
            <a:fillRect/>
          </a:stretch>
        </p:blipFill>
        <p:spPr>
          <a:xfrm rot="21004061">
            <a:off x="8116716" y="273685"/>
            <a:ext cx="3859733" cy="283474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63EDE3D-2B12-F92D-AC18-DB824B920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3735" y="-309563"/>
            <a:ext cx="2854960" cy="285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F4B3-035B-A1FF-2F05-763397A7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64387-3FD7-3EF0-2F93-3902CAD58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dirty="0"/>
              <a:t>Hlavní vlastnosti </a:t>
            </a:r>
            <a:r>
              <a:rPr lang="cs-CZ" dirty="0" err="1"/>
              <a:t>Rustu</a:t>
            </a:r>
            <a:r>
              <a:rPr lang="cs-CZ" dirty="0"/>
              <a:t>:</a:t>
            </a:r>
          </a:p>
          <a:p>
            <a:r>
              <a:rPr lang="cs-CZ" dirty="0"/>
              <a:t>hluboce integrovaný statický analyzátor (</a:t>
            </a:r>
            <a:r>
              <a:rPr lang="cs-CZ" dirty="0" err="1"/>
              <a:t>borrow</a:t>
            </a:r>
            <a:r>
              <a:rPr lang="cs-CZ" dirty="0"/>
              <a:t> checker), koncept vlastnictví</a:t>
            </a:r>
          </a:p>
          <a:p>
            <a:pPr lvl="1"/>
            <a:r>
              <a:rPr lang="cs-CZ" dirty="0"/>
              <a:t>"pokud se to zkompiluje, tak to poběží"</a:t>
            </a:r>
          </a:p>
          <a:p>
            <a:r>
              <a:rPr lang="cs-CZ" dirty="0"/>
              <a:t>deterministická správa paměti bez náhodných pauz pro "paměťového popeláře" --&gt; efektivita</a:t>
            </a:r>
          </a:p>
          <a:p>
            <a:r>
              <a:rPr lang="cs-CZ" dirty="0"/>
              <a:t>generické funkce a typy, systém </a:t>
            </a:r>
            <a:r>
              <a:rPr lang="cs-CZ" dirty="0" err="1"/>
              <a:t>traitů</a:t>
            </a:r>
            <a:r>
              <a:rPr lang="cs-CZ" dirty="0"/>
              <a:t> poskytující garanci vlastností a schopností namísto OOP --&gt; vhodné pro procedurální paradigma</a:t>
            </a:r>
          </a:p>
          <a:p>
            <a:r>
              <a:rPr lang="cs-CZ" dirty="0"/>
              <a:t>chyby jako hodnoty – sjednocené paradigma zpracovávání chyb pomocí algebraických datových typů (</a:t>
            </a:r>
            <a:r>
              <a:rPr lang="cs-CZ" dirty="0" err="1"/>
              <a:t>enumy</a:t>
            </a:r>
            <a:r>
              <a:rPr lang="cs-CZ" dirty="0"/>
              <a:t> s daty), žádné zapomenuté </a:t>
            </a:r>
            <a:r>
              <a:rPr lang="cs-CZ" dirty="0" err="1"/>
              <a:t>if</a:t>
            </a:r>
            <a:r>
              <a:rPr lang="cs-CZ" dirty="0"/>
              <a:t> (</a:t>
            </a:r>
            <a:r>
              <a:rPr lang="cs-CZ" dirty="0" err="1"/>
              <a:t>ptr</a:t>
            </a:r>
            <a:r>
              <a:rPr lang="cs-CZ" dirty="0"/>
              <a:t> != </a:t>
            </a:r>
            <a:r>
              <a:rPr lang="cs-CZ" dirty="0" err="1"/>
              <a:t>nullptr</a:t>
            </a:r>
            <a:r>
              <a:rPr lang="cs-CZ" dirty="0"/>
              <a:t>)</a:t>
            </a:r>
          </a:p>
          <a:p>
            <a:r>
              <a:rPr lang="cs-CZ" dirty="0"/>
              <a:t>politika abstrakce bez dopadu na výkon ("manuálně bys to nenapsal lépe")</a:t>
            </a:r>
          </a:p>
          <a:p>
            <a:r>
              <a:rPr lang="cs-CZ" dirty="0"/>
              <a:t>sjednocený systém pro sestavování a správce balíčků</a:t>
            </a:r>
          </a:p>
          <a:p>
            <a:r>
              <a:rPr lang="cs-CZ" dirty="0"/>
              <a:t>dobře čitelné chybové hlášky</a:t>
            </a:r>
          </a:p>
          <a:p>
            <a:r>
              <a:rPr lang="cs-CZ" dirty="0"/>
              <a:t>(okrajově) podpora pro bezpečnější a jednoduší souběžnost</a:t>
            </a:r>
          </a:p>
        </p:txBody>
      </p:sp>
    </p:spTree>
    <p:extLst>
      <p:ext uri="{BB962C8B-B14F-4D97-AF65-F5344CB8AC3E}">
        <p14:creationId xmlns:p14="http://schemas.microsoft.com/office/powerpoint/2010/main" val="3860842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FBA949-CCF9-9B6B-44CC-19765F4E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Rust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B755DE1-F317-B53D-6CE7-0FA95ABFE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Moderní (m.j.) systémový programovací jazyk</a:t>
            </a:r>
          </a:p>
          <a:p>
            <a:pPr lvl="1"/>
            <a:r>
              <a:rPr lang="cs-CZ" dirty="0"/>
              <a:t>Relativně </a:t>
            </a:r>
            <a:r>
              <a:rPr lang="cs-CZ" dirty="0" err="1"/>
              <a:t>nízkoúrovňový</a:t>
            </a:r>
            <a:r>
              <a:rPr lang="cs-CZ" dirty="0"/>
              <a:t>, výkonný, přesto poskytuje abstrakci</a:t>
            </a:r>
          </a:p>
          <a:p>
            <a:pPr lvl="1"/>
            <a:r>
              <a:rPr lang="cs-CZ" dirty="0"/>
              <a:t>Odstup času =&gt; vyhnutí se starým chybám</a:t>
            </a:r>
          </a:p>
          <a:p>
            <a:r>
              <a:rPr lang="cs-CZ" dirty="0"/>
              <a:t>Hluboce integrovaný statický analyzátor – </a:t>
            </a:r>
            <a:r>
              <a:rPr lang="cs-CZ" dirty="0" err="1"/>
              <a:t>borrow</a:t>
            </a:r>
            <a:r>
              <a:rPr lang="cs-CZ" dirty="0"/>
              <a:t> checker</a:t>
            </a:r>
          </a:p>
          <a:p>
            <a:pPr lvl="1"/>
            <a:r>
              <a:rPr lang="cs-CZ" dirty="0"/>
              <a:t>Koncept vlastnictví a životností =&gt; paměťová bezpečnost</a:t>
            </a:r>
          </a:p>
          <a:p>
            <a:r>
              <a:rPr lang="cs-CZ" dirty="0"/>
              <a:t>Chyby jako hodnoty =&gt; explicitní</a:t>
            </a:r>
          </a:p>
          <a:p>
            <a:r>
              <a:rPr lang="cs-CZ" dirty="0"/>
              <a:t>Generické programování, systém </a:t>
            </a:r>
            <a:r>
              <a:rPr lang="cs-CZ" dirty="0" err="1"/>
              <a:t>traitů</a:t>
            </a:r>
            <a:endParaRPr lang="cs-CZ" dirty="0"/>
          </a:p>
          <a:p>
            <a:r>
              <a:rPr lang="cs-CZ" dirty="0"/>
              <a:t>Kvalitní nástroje</a:t>
            </a:r>
          </a:p>
          <a:p>
            <a:r>
              <a:rPr lang="cs-CZ" dirty="0"/>
              <a:t>Od roku 2016 „nejmilovanější“ jazyk v průzkumech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95BDB74-733A-FDE2-A739-0DE3B915B4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7040" y="-4763"/>
            <a:ext cx="2854960" cy="285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498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940D3-E158-1255-6253-DDC86DF07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cs-CZ" sz="5400"/>
              <a:t>Enum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778074-DBD7-5D46-2FE2-5F5EBCCDE4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79" y="2706624"/>
                <a:ext cx="7328263" cy="3483864"/>
              </a:xfrm>
            </p:spPr>
            <p:txBody>
              <a:bodyPr>
                <a:normAutofit/>
              </a:bodyPr>
              <a:lstStyle/>
              <a:p>
                <a:r>
                  <a:rPr lang="cs-CZ" sz="2200" dirty="0"/>
                  <a:t>C: výčtový typ (fixní sada hodnot s identifikátory)</a:t>
                </a:r>
              </a:p>
              <a:p>
                <a:r>
                  <a:rPr lang="cs-CZ" sz="2200" dirty="0"/>
                  <a:t>Rust: disjunktní sjednocení množin hodnot</a:t>
                </a:r>
              </a:p>
              <a:p>
                <a:pPr lvl="1"/>
                <a:r>
                  <a:rPr lang="cs-CZ" sz="2000" dirty="0"/>
                  <a:t>Běžné sjednocení: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cs-CZ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sz="2000" b="0" i="1">
                            <a:latin typeface="Cambria Math" panose="02040503050406030204" pitchFamily="18" charset="0"/>
                          </a:rPr>
                          <m:t>1, 2, 5</m:t>
                        </m:r>
                      </m:e>
                    </m:d>
                    <m:r>
                      <a:rPr lang="cs-CZ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2, 10</m:t>
                        </m:r>
                      </m:e>
                    </m:d>
                    <m:r>
                      <a:rPr lang="cs-CZ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 2, 5, 10}</m:t>
                    </m:r>
                  </m:oMath>
                </a14:m>
                <a:endParaRPr lang="cs-CZ" sz="2000" dirty="0"/>
              </a:p>
              <a:p>
                <a:pPr lvl="1"/>
                <a:r>
                  <a:rPr lang="cs-CZ" sz="2000" dirty="0"/>
                  <a:t>Disjunktní sjednocení: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cs-CZ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sz="2000" b="0" i="1">
                            <a:latin typeface="Cambria Math" panose="02040503050406030204" pitchFamily="18" charset="0"/>
                          </a:rPr>
                          <m:t>1, 2, 5</m:t>
                        </m:r>
                      </m:e>
                    </m:d>
                    <m:r>
                      <a:rPr lang="cs-CZ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⊔</m:t>
                    </m:r>
                    <m:d>
                      <m:dPr>
                        <m:begChr m:val="{"/>
                        <m:endChr m:val="}"/>
                        <m:ctrlP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2, 10</m:t>
                        </m:r>
                      </m:e>
                    </m:d>
                    <m:r>
                      <a:rPr lang="cs-CZ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cs-CZ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cs-CZ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b>
                        <m: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cs-CZ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cs-CZ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b>
                        <m:r>
                          <a:rPr lang="cs-CZ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cs-CZ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cs-CZ" sz="2000" dirty="0"/>
                  <a:t> </a:t>
                </a:r>
              </a:p>
              <a:p>
                <a:r>
                  <a:rPr lang="cs-CZ" sz="2200" dirty="0"/>
                  <a:t>Každá varianta </a:t>
                </a:r>
                <a:r>
                  <a:rPr lang="cs-CZ" sz="2200" dirty="0" err="1"/>
                  <a:t>enumu</a:t>
                </a:r>
                <a:r>
                  <a:rPr lang="cs-CZ" sz="2200" dirty="0"/>
                  <a:t> dokáže obsahovat další data</a:t>
                </a:r>
              </a:p>
              <a:p>
                <a:r>
                  <a:rPr lang="cs-CZ" sz="2200" dirty="0"/>
                  <a:t>Rozsáhlé využití při zacházení s chybami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778074-DBD7-5D46-2FE2-5F5EBCCDE4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79" y="2706624"/>
                <a:ext cx="7328263" cy="3483864"/>
              </a:xfrm>
              <a:blipFill>
                <a:blip r:embed="rId3"/>
                <a:stretch>
                  <a:fillRect l="-915" t="-2098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E57D732-8A3D-41DB-F70E-E13CE98B0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t="9905" r="56040" b="2300"/>
          <a:stretch>
            <a:fillRect/>
          </a:stretch>
        </p:blipFill>
        <p:spPr>
          <a:xfrm>
            <a:off x="8633679" y="329183"/>
            <a:ext cx="2474537" cy="34299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761382-BF14-2CEB-D414-A505672C3A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0" t="12605" r="34817" b="2986"/>
          <a:stretch>
            <a:fillRect/>
          </a:stretch>
        </p:blipFill>
        <p:spPr>
          <a:xfrm>
            <a:off x="8368600" y="4353511"/>
            <a:ext cx="3420093" cy="183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412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54250-EC80-B686-0879-9FC018462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Vlastnictví a půjčování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F5ACF-B009-EEA3-F009-17084C1AB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cs-CZ" dirty="0"/>
              <a:t>Každá hodnota má jediného vlastníka</a:t>
            </a:r>
          </a:p>
          <a:p>
            <a:pPr lvl="1"/>
            <a:r>
              <a:rPr lang="cs-CZ" dirty="0"/>
              <a:t>Vlastník: blok kódu proměnné / objekt (struktura či </a:t>
            </a:r>
            <a:r>
              <a:rPr lang="cs-CZ" dirty="0" err="1"/>
              <a:t>enum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Proměnná je přístupná pouze pro jejího vlastníka</a:t>
            </a:r>
          </a:p>
          <a:p>
            <a:pPr lvl="1"/>
            <a:r>
              <a:rPr lang="cs-CZ" dirty="0"/>
              <a:t>(předávání vlastnictví)</a:t>
            </a:r>
          </a:p>
          <a:p>
            <a:r>
              <a:rPr lang="cs-CZ" dirty="0"/>
              <a:t>Proměnné jsou ve výchozím stavu neměnné</a:t>
            </a:r>
          </a:p>
          <a:p>
            <a:r>
              <a:rPr lang="cs-CZ" dirty="0"/>
              <a:t>Reference = ukazatele</a:t>
            </a:r>
          </a:p>
          <a:p>
            <a:pPr lvl="1"/>
            <a:r>
              <a:rPr lang="cs-CZ" dirty="0"/>
              <a:t>„Propůjčují“ danou hodnotu někomu jinému (nejčastěji funkci)</a:t>
            </a:r>
          </a:p>
          <a:p>
            <a:pPr lvl="1"/>
            <a:r>
              <a:rPr lang="cs-CZ" dirty="0"/>
              <a:t>Nikdy nesmí mít delší životnost než původní hodnota</a:t>
            </a:r>
          </a:p>
          <a:p>
            <a:pPr lvl="1"/>
            <a:r>
              <a:rPr lang="cs-CZ" dirty="0"/>
              <a:t>1 měnitelná reference, nebo ∞ neměnných referencí, ne oboje naráz</a:t>
            </a:r>
          </a:p>
          <a:p>
            <a:r>
              <a:rPr lang="cs-CZ" dirty="0"/>
              <a:t>Při skončení životnosti automaticky zavolán Drop</a:t>
            </a:r>
          </a:p>
        </p:txBody>
      </p:sp>
    </p:spTree>
    <p:extLst>
      <p:ext uri="{BB962C8B-B14F-4D97-AF65-F5344CB8AC3E}">
        <p14:creationId xmlns:p14="http://schemas.microsoft.com/office/powerpoint/2010/main" val="3028556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E20D0D-91F3-3401-70D1-3692CC0CB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Traity</a:t>
            </a:r>
            <a:endParaRPr lang="cs-CZ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6BD78AD-DE34-6F3B-2EB1-21CEF2C4D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5" y="2807208"/>
            <a:ext cx="5465065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200" dirty="0"/>
              <a:t>„rys, vlastnost, příznak“</a:t>
            </a:r>
          </a:p>
          <a:p>
            <a:r>
              <a:rPr lang="cs-CZ" sz="2200" dirty="0"/>
              <a:t>Definují abstraktní chování datových typů</a:t>
            </a:r>
          </a:p>
          <a:p>
            <a:pPr lvl="1"/>
            <a:r>
              <a:rPr lang="cs-CZ" sz="2000" dirty="0"/>
              <a:t>Vlastnosti, metody (funkce na typy)</a:t>
            </a:r>
          </a:p>
          <a:p>
            <a:r>
              <a:rPr lang="cs-CZ" sz="2200" dirty="0"/>
              <a:t>Funkce „univerzální“ přes různé typy</a:t>
            </a:r>
          </a:p>
          <a:p>
            <a:pPr lvl="1"/>
            <a:r>
              <a:rPr lang="cs-CZ" sz="2000" dirty="0" err="1"/>
              <a:t>Traity</a:t>
            </a:r>
            <a:r>
              <a:rPr lang="cs-CZ" sz="2000" dirty="0"/>
              <a:t> omezují generické parametry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A741EA8-998F-82FA-FF60-505A4104C9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" t="2798" r="3700" b="1683"/>
          <a:stretch>
            <a:fillRect/>
          </a:stretch>
        </p:blipFill>
        <p:spPr>
          <a:xfrm>
            <a:off x="6655622" y="640080"/>
            <a:ext cx="4905446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07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53ACE-5A18-0223-F078-F212AF8D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AF63F9-96E4-CAE6-8E27-BAD90F2D3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Traity 2</a:t>
            </a:r>
            <a:endParaRPr lang="cs-CZ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05A3046-89B3-C287-04D7-C746C39208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201392" y="1043156"/>
            <a:ext cx="6362250" cy="4771688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A44BED2-120E-0B7F-D74E-A629CFE66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4570456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200" dirty="0"/>
              <a:t>Přenositelné knihovny</a:t>
            </a:r>
          </a:p>
          <a:p>
            <a:pPr lvl="1"/>
            <a:r>
              <a:rPr lang="cs-CZ" sz="2000" dirty="0" err="1"/>
              <a:t>Traity</a:t>
            </a:r>
            <a:r>
              <a:rPr lang="cs-CZ" sz="2000" dirty="0"/>
              <a:t> poskytují jednotné rozhraní pro různé </a:t>
            </a:r>
            <a:r>
              <a:rPr lang="cs-CZ" sz="2000" dirty="0" err="1"/>
              <a:t>backendy</a:t>
            </a:r>
            <a:endParaRPr lang="cs-CZ" sz="2000" dirty="0"/>
          </a:p>
          <a:p>
            <a:pPr lvl="1"/>
            <a:r>
              <a:rPr lang="cs-CZ" sz="2000" dirty="0"/>
              <a:t>Knihovny pak mohou být psány oproti těmto rozhraním namísto konkrétních implementací</a:t>
            </a:r>
            <a:endParaRPr lang="cs-CZ" sz="2200" dirty="0"/>
          </a:p>
          <a:p>
            <a:r>
              <a:rPr lang="cs-CZ" sz="2200" dirty="0"/>
              <a:t>Příklad: </a:t>
            </a:r>
            <a:r>
              <a:rPr lang="cs-CZ" sz="2200" dirty="0" err="1">
                <a:highlight>
                  <a:srgbClr val="C0C0C0"/>
                </a:highlight>
              </a:rPr>
              <a:t>embedded</a:t>
            </a:r>
            <a:r>
              <a:rPr lang="cs-CZ" sz="2200" dirty="0">
                <a:highlight>
                  <a:srgbClr val="C0C0C0"/>
                </a:highlight>
              </a:rPr>
              <a:t>-hal</a:t>
            </a:r>
            <a:r>
              <a:rPr lang="cs-CZ" sz="2200" dirty="0"/>
              <a:t> (různé mikrořadiče, jedno rozhraní)</a:t>
            </a:r>
          </a:p>
        </p:txBody>
      </p:sp>
    </p:spTree>
    <p:extLst>
      <p:ext uri="{BB962C8B-B14F-4D97-AF65-F5344CB8AC3E}">
        <p14:creationId xmlns:p14="http://schemas.microsoft.com/office/powerpoint/2010/main" val="3835894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9CC341-C25B-F877-D447-AF84B4A23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Architektura programu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2AB956-920E-CF3C-3578-10FABD0AC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Setup, event </a:t>
            </a:r>
            <a:r>
              <a:rPr lang="cs-CZ" dirty="0" err="1"/>
              <a:t>loop</a:t>
            </a:r>
            <a:endParaRPr lang="cs-CZ" dirty="0"/>
          </a:p>
          <a:p>
            <a:r>
              <a:rPr lang="cs-CZ" dirty="0" err="1"/>
              <a:t>modules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34217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93CDE-8F32-A485-10B4-FA031EFC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Desetinná čísla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5C0BB-C97C-4C65-9E4F-8751068C4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1032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5CEB5-567A-56FC-A79D-8EBBE314C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Ovládání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313B4-1167-5BFE-4914-AF8C4B665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93242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95F07-92E8-AF88-403B-50025CB8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Výsledek v akci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79220-6287-5881-E828-1F00E207B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455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017E-CF88-884F-B871-85FFD3A7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Osobní shrnutí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97471-F608-2CF7-AC14-186A540FD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059705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1945</TotalTime>
  <Words>1425</Words>
  <Application>Microsoft Office PowerPoint</Application>
  <PresentationFormat>Widescreen</PresentationFormat>
  <Paragraphs>156</Paragraphs>
  <Slides>15</Slides>
  <Notes>9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Motiv Office</vt:lpstr>
      <vt:lpstr>Kalkulačka v postfixové notaci na čipu RP2040</vt:lpstr>
      <vt:lpstr>Výběr tématu</vt:lpstr>
      <vt:lpstr>Postfixová notace</vt:lpstr>
      <vt:lpstr>PowerPoint Presentation</vt:lpstr>
      <vt:lpstr>PowerPoint Presentation</vt:lpstr>
      <vt:lpstr>Rust</vt:lpstr>
      <vt:lpstr>Enum</vt:lpstr>
      <vt:lpstr>Vlastnictví a půjčování</vt:lpstr>
      <vt:lpstr>Traity</vt:lpstr>
      <vt:lpstr>Traity 2</vt:lpstr>
      <vt:lpstr>Architektura programu</vt:lpstr>
      <vt:lpstr>Desetinná čísla</vt:lpstr>
      <vt:lpstr>Ovládání</vt:lpstr>
      <vt:lpstr>Výsledek v akci</vt:lpstr>
      <vt:lpstr>Osobní shrnutí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Ondřej Běhal</dc:creator>
  <cp:lastModifiedBy>Ondřej Běhal</cp:lastModifiedBy>
  <cp:revision>173</cp:revision>
  <dcterms:created xsi:type="dcterms:W3CDTF">2026-03-24T10:48:56Z</dcterms:created>
  <dcterms:modified xsi:type="dcterms:W3CDTF">2026-04-02T12:58:48Z</dcterms:modified>
</cp:coreProperties>
</file>